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The Cell: Anatomy and Histology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FOCUS: HUMAN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The smallest living unit of the body, and the foundation for the histology that follows. In a combined class this anatomy unit pairs with the cell physiology unit.  Dr. Sharilyn Rennie</a:t>
            </a:r>
          </a:p>
        </p:txBody>
      </p:sp>
      <p:pic>
        <p:nvPicPr>
          <p:cNvPr id="5" name="Picture 4" descr="Human Anatomy logo: three stylized figure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462" y="411480"/>
            <a:ext cx="926275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The Cell &amp; the Plasma Membrane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Every body cell shares three regions: a plasma membrane, the cytoplasm, and the nucleus. Start with the boundary that defines the cell.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Three regions of the cell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Generalized cell: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a composite model of features shared by most body cells.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Plasma membrane: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outer boundary that encloses the cell.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Cytoplasm: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everything between the membrane and the nucleus, the cytosol plus the organelles.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Cytosol: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gel-like intracellular fluid the organelles sit in; mostly water with dissolved ions, nutrients, and proteins.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Nucleus: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control center, usually the largest structure in the cell.</a:t>
            </a:r>
          </a:p>
        </p:txBody>
      </p:sp>
      <p:pic>
        <p:nvPicPr>
          <p:cNvPr id="5" name="Picture 4" descr="Round cell model, sectioned, with the lab exam labels: plasma membrane, nucleus, nucleolus, nuclear envelope with nuclear pores, nucleoplasm, rough and smooth ER, Golgi apparatus, mitochondria, lysosome, peroxisome, vesicle, centrosome and centriol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88306"/>
            <a:ext cx="6309360" cy="3550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Round cell model (lab exam labels).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The cell model you will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Same structures, different model body.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Learn the parts, not one picture.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Anchor first: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find the nucleus, nucleolus, and nuclear envelope.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Endomembrane set: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rough ER, smooth ER, Golgi apparatus, vesicles, lysosome, peroxisome.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Finish with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mitochondria and the centrosome / centriole.</a:t>
            </a:r>
          </a:p>
        </p:txBody>
      </p:sp>
      <p:pic>
        <p:nvPicPr>
          <p:cNvPr id="5" name="Picture 4" descr="White cell model, sectioned, on a green base, with the same lab labels as the round mode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88306"/>
            <a:ext cx="6309360" cy="3550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White cell model (same labels, different model).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The plasma membrane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Phospholipid bilayer: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basic fabric. The fluid mosaic model describes proteins drifting within it.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Integral proteins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span the bilayer as transmembrane channels, carriers, and receptors.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Peripheral proteins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attach loosely to one face; enzymes and shape bracing.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Cholesterol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stabilizes the membrane and keeps it fluid.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Glycocalyx: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external glycoprotein coat, the cell's identity badge.</a:t>
            </a:r>
          </a:p>
        </p:txBody>
      </p:sp>
      <p:pic>
        <p:nvPicPr>
          <p:cNvPr id="5" name="Picture 4" descr="Fluid mosaic model diagram: a phospholipid bilayer with integral transmembrane proteins, a channel protein, peripheral proteins, cholesterol, and a glycocalyx of glycoproteins and glycolipids on the outer surface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92343"/>
            <a:ext cx="6309360" cy="35419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Fluid mosaic model of the membrane.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Cell Surfaces &amp; Junctions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Cells specialize their apical surface for absorption and movement, and join neighbors at their lateral surfaces. The proteins that build these are testable.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Surface specializations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Microvilli: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finger-like extensions that increase surface area for absorption; core of bundled actin.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Cilia: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short hair-like extensions that sweep substances; built on a 9+2 axoneme.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Flagellum: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a single long extension, same 9+2 core; the only human example is the sperm tail.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Basal body: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a modified centriole (9+0 triplets) that anchors each cilium and organizes its axoneme.</a:t>
            </a:r>
          </a:p>
        </p:txBody>
      </p:sp>
      <p:pic>
        <p:nvPicPr>
          <p:cNvPr id="5" name="Picture 4" descr="Diagram comparing microvilli, with actin cores in a terminal web, and a cilium with a 9+2 axoneme rising from a basal body, plus a cross-section of nine doublets around a central pair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27" y="1417320"/>
            <a:ext cx="4668464" cy="4892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Microvilli, cilium, and the basal body.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Microvilli as a brush border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pic>
        <p:nvPicPr>
          <p:cNvPr id="4" name="Picture 3" descr="Transmission electron micrograph of an absorptive cell surface: densely packed parallel microvilli form a brush border along the apical edge, with organelles below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085" y="1371600"/>
            <a:ext cx="3251348" cy="4571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6126480"/>
            <a:ext cx="8503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More microvilli means more membrane means more absorption: the brush border (TEM).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How cells join: junctions and their proteins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Tight junctions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seal the gap between cells. Built from claudins and occludins.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Desmosomes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rivet cells against pulling; link cadherins to intermediate filaments.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Hemidesmosomes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anchor a cell to the basement membrane using integrins.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Gap junctions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are channels for ions and small molecules; built from connexins forming a connexon.</a:t>
            </a:r>
          </a:p>
        </p:txBody>
      </p:sp>
      <p:pic>
        <p:nvPicPr>
          <p:cNvPr id="5" name="Picture 4" descr="Diagram of an epithelial sheet: apical surface with microvilli, lateral surface between cells, basal surface on the basement membrane, with insets enlarging tight junctions, desmosomes, hemidesmosomes, and a gap junct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88306"/>
            <a:ext cx="6309360" cy="3550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Cell junctions at the apical, lateral, and basal surfaces.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The Nucleus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The control center: it stores the genetic code and controls what crosses in and out through its pores.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The nucleus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Nuclear envelope: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double membrane; its outer membrane is continuous with the rough ER.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Nuclear pores: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channels that regulate two-way traffic. mRNA and ribosomal subunits out; proteins in.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Nucleoplasm: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the fluid suspending the nuclear contents.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Nucleolus: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where ribosomal subunits are assembled.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Chromatin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is loose threadlike DNA; chromosomes are its coiled form, seen in division.</a:t>
            </a:r>
          </a:p>
        </p:txBody>
      </p:sp>
      <p:pic>
        <p:nvPicPr>
          <p:cNvPr id="5" name="Picture 4" descr="Transmission electron micrograph of a nucleus: double nuclear envelope, a dense nucleolus inside, and clumps of dark heterochromatin against lighter euchromati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376" y="1417320"/>
            <a:ext cx="3399967" cy="4892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The nucleus in section (TEM).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Nuclear pores control the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Not a sealed wall: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nuclear pores perforate the envelope and choose what crosses.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Out: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messenger RNA and ribosomal subunits, headed for protein synthesis.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In: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proteins built in the cytoplasm but needed inside the nucleus.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Continuity: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the outer membrane is studded with ribosomes and flows into the rough ER.</a:t>
            </a:r>
          </a:p>
        </p:txBody>
      </p:sp>
      <p:pic>
        <p:nvPicPr>
          <p:cNvPr id="5" name="Picture 4" descr="High-magnification TEM showing the nuclear envelope interrupted by nuclear pores, the edge of the nucleus, and a nearby mitochondri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762" y="1417320"/>
            <a:ext cx="520319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Nuclear envelope (NE), nuclear pores (NP), mitochondrion (M).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The nucleolus and busy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A prominent nucleolus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signals a cell making large amounts of protein; it is the ribosome factory.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Neurons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are a classic example: a large pale nucleus with one dark, obvious nucleolus.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 i="0">
                <a:solidFill>
                  <a:srgbClr val="8B3A2E"/>
                </a:solidFill>
                <a:latin typeface="Calibri"/>
              </a:rPr>
              <a:t>Read it backward: </a:t>
            </a:r>
            <a:r>
              <a:rPr sz="1800" b="0" i="0">
                <a:solidFill>
                  <a:srgbClr val="0B1530"/>
                </a:solidFill>
                <a:latin typeface="Calibri"/>
              </a:rPr>
              <a:t>a big nucleolus on a slide predicts heavy protein output.</a:t>
            </a:r>
          </a:p>
        </p:txBody>
      </p:sp>
      <p:pic>
        <p:nvPicPr>
          <p:cNvPr id="5" name="Picture 4" descr="Light micrograph of a large neuron cell body stained dark, with a pale round nucleus containing one prominent dark nucleolu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019" y="1417320"/>
            <a:ext cx="54526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A neuron's prominent nucleolus marks heavy protein output.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The Endomembrane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One connected route: nuclear envelope, ER, Golgi, vesicles, and lysosomes. Follow a product from where it is made to where it leaves.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Membranous organelles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Rough ER: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ribosome-studded network; makes and packages proteins.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Smooth ER: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no ribosomes; makes lipids and stores calcium.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Golgi apparatus: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sorts, packages, and ships cell products.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Lysosomes: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digestive enzyme sacs; break down worn parts and debris.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Peroxisomes: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neutralize toxins and free radicals.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Mitochondria and vesicles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round out the membrane-bound set.</a:t>
            </a:r>
          </a:p>
        </p:txBody>
      </p:sp>
      <p:pic>
        <p:nvPicPr>
          <p:cNvPr id="5" name="Picture 4" descr="Round cell model showing the membranous organelles in place: rough and smooth ER, the Golgi apparatus, lysosome, peroxisome, vesicles, and mitochondria around the nucleu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088306"/>
            <a:ext cx="6309360" cy="3550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Membranous organelles on the lab model.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The secretory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0">
                <a:solidFill>
                  <a:srgbClr val="0B1530"/>
                </a:solidFill>
                <a:latin typeface="Calibri"/>
              </a:rPr>
              <a:t>The numbered route a secreted protein follows, in order. The mechanism belongs to physiology; here we trace the anatomy of the path.</a:t>
            </a:r>
          </a:p>
        </p:txBody>
      </p:sp>
      <p:pic>
        <p:nvPicPr>
          <p:cNvPr id="5" name="Picture 4" descr="Flow diagram: rough ER (protein made) to a transport vesicle to the Golgi (sort and modify) to a secretory vesicle to exocytosis, where the product leaves the cell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815" y="2651760"/>
            <a:ext cx="7855888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8B3A2E"/>
                </a:solidFill>
                <a:latin typeface="Calibri"/>
              </a:rPr>
              <a:t>Reverse it: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endocytosis brings material in; microtubules are the tracks vesicles follow; nuclear pores are the gateway where mRNA first exits.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Cytoskeleton, Power &amp;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The non-membranous structures: ribosomes, the cytoskeleton, the centrosome, and the powerhouse that supplies them all.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Non-membranous organelles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Ribosomes: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RNA-and-protein particles, free in the cytosol or on the rough ER; build proteins.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Cytoskeleton: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an internal protein framework for shape and movement.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Three fibers: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microfilaments (actin, thinnest), intermediate filaments (rope-like, resist pulling), microtubules (thickest, hollow transport tracks).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Centrosome: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organizes microtubules; its paired centrioles (9+0 triplets) organize the spindle in division.</a:t>
            </a:r>
          </a:p>
        </p:txBody>
      </p:sp>
      <p:pic>
        <p:nvPicPr>
          <p:cNvPr id="5" name="Picture 4" descr="Transmission electron micrograph of a centriole in cross-section: nine microtubule triplets in a pinwheel or star pattern around an empty center, one triplet circled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62" y="1417320"/>
            <a:ext cx="535659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Centriole in cross-section: nine triplets (9+0) in a pinwheel.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Cytosol and cellular inclusions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B1530"/>
                </a:solidFill>
                <a:latin typeface="Calibri"/>
              </a:rPr>
              <a:t>The fluid the organelles live in, and the materials the cell stores in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4251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Cytosol: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the gel-like intracellular fluid, about half the cell's volume; mostly water with dissolved ions, nutrients, sugars, amino acids, and proteins.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Medium and reactions: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it suspends the organelles and the cytoskeleton and is the site of many of the cell's chemical reactions.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Cellular inclusions: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stored, non-living substances in the cytosol, not membrane-bound organelles.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Examples: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glycogen granules (liver, muscle) store sugar; lipid droplets (adipocytes) store fat; pigments such as melanin and lipofuscin collect in some cells.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Cytosol vs cytoplasm: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the cytosol is the fluid only; the cytoplasm is the cytosol plus the organelles and inclusions in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Mitochondria supply the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Mitochondria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are double-membraned organelles that produce most of the cell's ATP.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Cristae: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inner-membrane folds that pack in surface area for energy production.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Heavy demand: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cardiac and skeletal muscle, kidney tubules carry many of them.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Own DNA: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mitochondrial disorders follow a distinctive maternal inheritance pattern.</a:t>
            </a:r>
          </a:p>
        </p:txBody>
      </p:sp>
      <p:pic>
        <p:nvPicPr>
          <p:cNvPr id="5" name="Picture 4" descr="Transmission electron micrograph showing a mitochondrion next to the nuclear envelope and nuclear pores of an adjacent nucleu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762" y="1417320"/>
            <a:ext cx="5203194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A mitochondrion (M) beside the nuclear envelope (TEM).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Cells Under the Microscope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Histology is how we read cells on a slide. Stains make the nucleus dark and the cytoplasm pale, and a cell's shape reveals its job.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What histology shows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H&amp;E staining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turns nuclei dark purple-blue and cytoplasm pink, so you first see where the nuclei are.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Count, shape, packing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of nuclei tells you the tissue.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Lab practical: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you identify cells by these features, not just on a model.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Bridge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to the next module, where cells are organized into the four tissue types.</a:t>
            </a:r>
          </a:p>
        </p:txBody>
      </p:sp>
      <p:pic>
        <p:nvPicPr>
          <p:cNvPr id="5" name="Picture 4" descr="Hematoxylin and eosin micrograph of a tissue densely packed with cells, each showing a dark purple-blue round nucleus against pale pink cytoplasm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734" y="1417320"/>
            <a:ext cx="6057251" cy="4892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H&amp;E: dark nuclei against pale cytoplasm.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A cell's shape matches its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66344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Muscle cell: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long and packed with mitochondria; cardiac cells join end to end at intercalated discs (gap junctions plus desmosomes).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Red blood cell: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loses its nucleus and organelles to carry oxygen.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White blood cell: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changes shape to squeeze between cells to an infection.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 i="0">
                <a:solidFill>
                  <a:srgbClr val="8B3A2E"/>
                </a:solidFill>
                <a:latin typeface="Calibri"/>
              </a:rPr>
              <a:t>Rule: </a:t>
            </a:r>
            <a:r>
              <a:rPr sz="1600" b="0" i="0">
                <a:solidFill>
                  <a:srgbClr val="0B1530"/>
                </a:solidFill>
                <a:latin typeface="Calibri"/>
              </a:rPr>
              <a:t>structure follows job; a cell carries the organelles its task needs.</a:t>
            </a:r>
          </a:p>
        </p:txBody>
      </p:sp>
      <p:pic>
        <p:nvPicPr>
          <p:cNvPr id="5" name="Picture 4" descr="Light micrograph of cardiac muscle: branching striated fibers joined end to end by dark intercalated discs, with oval nuclei inside the fiber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619334"/>
            <a:ext cx="6309360" cy="4488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40680" y="6355079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0B1530"/>
                </a:solidFill>
                <a:latin typeface="Calibri"/>
              </a:rPr>
              <a:t>Cardiac muscle joined at intercalated discs (ID).</a:t>
            </a:r>
          </a:p>
          <a:p>
            <a:r>
              <a:rPr sz="1000" b="0" i="1">
                <a:solidFill>
                  <a:srgbClr val="6B6B6B"/>
                </a:solidFill>
                <a:latin typeface="Calibri"/>
              </a:rPr>
              <a:t>Histology image: LeBoffe histology, adapted by Rowley. Used with permission.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The organelle points to the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B1530"/>
                </a:solidFill>
                <a:latin typeface="Calibri"/>
              </a:rPr>
              <a:t>When you know what an organelle does, you can predict what fails when it is defective.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8B3A2E"/>
                </a:solidFill>
                <a:latin typeface="Calibri"/>
              </a:rPr>
              <a:t>Lysosomes </a:t>
            </a:r>
            <a:r>
              <a:rPr sz="1900" b="0" i="0">
                <a:solidFill>
                  <a:srgbClr val="0B1530"/>
                </a:solidFill>
                <a:latin typeface="Calibri"/>
              </a:rPr>
              <a:t>that cannot break down their contents cause lysosomal storage diseases, such as Tay-Sachs.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8B3A2E"/>
                </a:solidFill>
                <a:latin typeface="Calibri"/>
              </a:rPr>
              <a:t>Cilia </a:t>
            </a:r>
            <a:r>
              <a:rPr sz="1900" b="0" i="0">
                <a:solidFill>
                  <a:srgbClr val="0B1530"/>
                </a:solidFill>
                <a:latin typeface="Calibri"/>
              </a:rPr>
              <a:t>that do not form correctly cause primary ciliary dyskinesia: the airways cannot clear mucus.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8B3A2E"/>
                </a:solidFill>
                <a:latin typeface="Calibri"/>
              </a:rPr>
              <a:t>Mitochondria </a:t>
            </a:r>
            <a:r>
              <a:rPr sz="1900" b="0" i="0">
                <a:solidFill>
                  <a:srgbClr val="0B1530"/>
                </a:solidFill>
                <a:latin typeface="Calibri"/>
              </a:rPr>
              <a:t>carry their own DNA, so mitochondrial disorders follow a distinctive maternal inheritance pattern.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286000"/>
            <a:ext cx="10515600" cy="1463040"/>
          </a:xfrm>
        </p:spPr>
        <p:txBody>
          <a:bodyPr wrap="square"/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332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 i="0">
                <a:solidFill>
                  <a:srgbClr val="E6EAF0"/>
                </a:solidFill>
                <a:latin typeface="Calibri"/>
              </a:rPr>
              <a:t>Three questions, increasing in depth. Use these to teach yourself, not just to score.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Recall: name the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DOK 1 ·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000" b="1" i="0">
                <a:solidFill>
                  <a:srgbClr val="8B3A2E"/>
                </a:solidFill>
                <a:latin typeface="Calibri"/>
              </a:rPr>
              <a:t>Recall </a:t>
            </a:r>
            <a:r>
              <a:rPr sz="2000" b="0" i="0">
                <a:solidFill>
                  <a:srgbClr val="0B1530"/>
                </a:solidFill>
                <a:latin typeface="Calibri"/>
              </a:rPr>
              <a:t>asks you to state a fact directly.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000" b="1" i="0">
                <a:solidFill>
                  <a:srgbClr val="8B3A2E"/>
                </a:solidFill>
                <a:latin typeface="Calibri"/>
              </a:rPr>
              <a:t>Q. </a:t>
            </a:r>
            <a:r>
              <a:rPr sz="2000" b="0" i="0">
                <a:solidFill>
                  <a:srgbClr val="0B1530"/>
                </a:solidFill>
                <a:latin typeface="Calibri"/>
              </a:rPr>
              <a:t>Which organelle assembles ribosomal subunits?  (Golgi / Nucleolus / Lysosome / Smooth ER)</a:t>
            </a:r>
          </a:p>
          <a:p>
            <a:pPr>
              <a:lnSpc>
                <a:spcPct val="105000"/>
              </a:lnSpc>
              <a:spcAft>
                <a:spcPts val="1800"/>
              </a:spcAft>
            </a:pPr>
            <a:r>
              <a:rPr sz="2000" b="1" i="0">
                <a:solidFill>
                  <a:srgbClr val="8B3A2E"/>
                </a:solidFill>
                <a:latin typeface="Calibri"/>
              </a:rPr>
              <a:t>Answer: </a:t>
            </a:r>
            <a:r>
              <a:rPr sz="2000" b="0" i="0">
                <a:solidFill>
                  <a:srgbClr val="0B1530"/>
                </a:solidFill>
                <a:latin typeface="Calibri"/>
              </a:rPr>
              <a:t>Nucleolus, the dense body inside the nucleus.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Match structure to protein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DOK 2 · SKILL /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8B3A2E"/>
                </a:solidFill>
                <a:latin typeface="Calibri"/>
              </a:rPr>
              <a:t>Apply </a:t>
            </a:r>
            <a:r>
              <a:rPr sz="1900" b="0" i="0">
                <a:solidFill>
                  <a:srgbClr val="0B1530"/>
                </a:solidFill>
                <a:latin typeface="Calibri"/>
              </a:rPr>
              <a:t>asks you to use a concept, not just recall.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8B3A2E"/>
                </a:solidFill>
                <a:latin typeface="Calibri"/>
              </a:rPr>
              <a:t>Q. </a:t>
            </a:r>
            <a:r>
              <a:rPr sz="1900" b="0" i="0">
                <a:solidFill>
                  <a:srgbClr val="0B1530"/>
                </a:solidFill>
                <a:latin typeface="Calibri"/>
              </a:rPr>
              <a:t>A junction lets ions pass directly cell to cell. Which protein builds it?  (Claudin / Cadherin / Connexin / Integrin)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900" b="1" i="0">
                <a:solidFill>
                  <a:srgbClr val="8B3A2E"/>
                </a:solidFill>
                <a:latin typeface="Calibri"/>
              </a:rPr>
              <a:t>Answer: </a:t>
            </a:r>
            <a:r>
              <a:rPr sz="1900" b="0" i="0">
                <a:solidFill>
                  <a:srgbClr val="0B1530"/>
                </a:solidFill>
                <a:latin typeface="Calibri"/>
              </a:rPr>
              <a:t>Connexin, which assembles into a connexon channel at the gap junction.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Predict from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DOK 3 · STRATEGIC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480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Reason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asks you to connect several ideas.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Q.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A biopsy cell shows a dense brush border and many mitochondria. What is it built to do?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 i="0">
                <a:solidFill>
                  <a:srgbClr val="8B3A2E"/>
                </a:solidFill>
                <a:latin typeface="Calibri"/>
              </a:rPr>
              <a:t>Answer: </a:t>
            </a:r>
            <a:r>
              <a:rPr sz="1700" b="0" i="0">
                <a:solidFill>
                  <a:srgbClr val="0B1530"/>
                </a:solidFill>
                <a:latin typeface="Calibri"/>
              </a:rPr>
              <a:t>Absorb material across its surface. The brush border maximizes surface area; abundant mitochondria supply the ATP active uptake demands (e.g., kidney tubule or intestinal lining cell).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13232"/>
            <a:ext cx="10972800" cy="822960"/>
          </a:xfrm>
        </p:spPr>
        <p:txBody>
          <a:bodyPr/>
          <a:lstStyle/>
          <a:p>
            <a:r>
              <a:rPr sz="2900" b="1" i="0">
                <a:solidFill>
                  <a:srgbClr val="0B1530"/>
                </a:solidFill>
                <a:latin typeface="Calibri"/>
              </a:rPr>
              <a:t>Label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8B3A2E"/>
                </a:solidFill>
                <a:latin typeface="Calibri"/>
              </a:rPr>
              <a:t>FOCUS: HUMAN ANATOMY · THE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 i="0">
                <a:solidFill>
                  <a:srgbClr val="0B1530"/>
                </a:solidFill>
                <a:latin typeface="Calibri"/>
              </a:rPr>
              <a:t>Cover the labels and name every structure on both models before lab.</a:t>
            </a:r>
          </a:p>
        </p:txBody>
      </p:sp>
      <p:pic>
        <p:nvPicPr>
          <p:cNvPr id="5" name="Picture 4" descr="Round cell model with lab label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62732"/>
            <a:ext cx="5486400" cy="3087014"/>
          </a:xfrm>
          <a:prstGeom prst="rect">
            <a:avLst/>
          </a:prstGeom>
        </p:spPr>
      </p:pic>
      <p:pic>
        <p:nvPicPr>
          <p:cNvPr id="6" name="Picture 5" descr="White cell model with lab label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62732"/>
            <a:ext cx="5486400" cy="308701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60120"/>
            <a:ext cx="10515600" cy="731520"/>
          </a:xfrm>
        </p:spPr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cell in seven 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9A14A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Every cell has three regions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; plasma membrane, cytoplasm, nucleus.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The membrane is a fluid mosaic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; bilayer plus integral and peripheral proteins, cholesterol, glycocalyx.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Surfaces specialize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; microvilli (actin) absorb, cilia (9+2 on a basal body) sweep.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Junctions have proteins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; tight (claudins), desmosome (cadherins), hemidesmosome (integrins), gap (connexins).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The nucleus stores DNA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and controls traffic through nuclear pores; the nucleolus builds ribosomes.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The endomembrane route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; rough ER, vesicle, Golgi, secretory vesicle, exocytosis.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 b="1" i="0">
                <a:solidFill>
                  <a:srgbClr val="C9A14A"/>
                </a:solidFill>
                <a:latin typeface="Calibri"/>
              </a:rPr>
              <a:t>•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Form follows function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; on a slide the dark nucleus is where you start reading the cell.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Cell: Anatomy and Histology (Anatomy Section)</dc:title>
  <dc:subject>Anatomy section: The Cell, anatomy and histology</dc:subject>
  <dc:creator>Dr. Sharilyn Rennie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