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jpg"/><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2286000"/>
            <a:ext cx="10515600" cy="1463040"/>
          </a:xfrm>
        </p:spPr>
        <p:txBody>
          <a:bodyPr wrap="square"/>
          <a:lstStyle/>
          <a:p>
            <a:r>
              <a:rPr sz="4000" b="1" i="0">
                <a:solidFill>
                  <a:srgbClr val="FFFFFF"/>
                </a:solidFill>
                <a:latin typeface="Calibri"/>
              </a:rPr>
              <a:t>Foundations: The Language of Anatomy and Body Organization</a:t>
            </a:r>
          </a:p>
        </p:txBody>
      </p:sp>
      <p:sp>
        <p:nvSpPr>
          <p:cNvPr id="3" name="TextBox 2"/>
          <p:cNvSpPr txBox="1"/>
          <p:nvPr/>
        </p:nvSpPr>
        <p:spPr>
          <a:xfrm>
            <a:off x="822960" y="1828800"/>
            <a:ext cx="10515600" cy="457200"/>
          </a:xfrm>
          <a:prstGeom prst="rect">
            <a:avLst/>
          </a:prstGeom>
          <a:noFill/>
        </p:spPr>
        <p:txBody>
          <a:bodyPr wrap="square" lIns="0" rIns="0" tIns="0" bIns="0">
            <a:spAutoFit/>
          </a:bodyPr>
          <a:lstStyle/>
          <a:p>
            <a:r>
              <a:rPr sz="1500" b="1" i="0">
                <a:solidFill>
                  <a:srgbClr val="C9A14A"/>
                </a:solidFill>
                <a:latin typeface="Calibri"/>
              </a:rPr>
              <a:t>FOCUS: HUMAN ANATOMY</a:t>
            </a:r>
          </a:p>
        </p:txBody>
      </p:sp>
      <p:sp>
        <p:nvSpPr>
          <p:cNvPr id="4" name="TextBox 3"/>
          <p:cNvSpPr txBox="1"/>
          <p:nvPr/>
        </p:nvSpPr>
        <p:spPr>
          <a:xfrm>
            <a:off x="822960" y="4114800"/>
            <a:ext cx="10332720" cy="1463040"/>
          </a:xfrm>
          <a:prstGeom prst="rect">
            <a:avLst/>
          </a:prstGeom>
          <a:noFill/>
        </p:spPr>
        <p:txBody>
          <a:bodyPr wrap="square" lIns="0" rIns="0" tIns="0" bIns="0">
            <a:spAutoFit/>
          </a:bodyPr>
          <a:lstStyle/>
          <a:p>
            <a:r>
              <a:rPr sz="1800" b="0" i="0">
                <a:solidFill>
                  <a:srgbClr val="E6EAF0"/>
                </a:solidFill>
                <a:latin typeface="Calibri"/>
              </a:rPr>
              <a:t>The anatomy portion of the course. In a combined class, this pairs with the physiology unit.  Dr. Sharilyn Rennie</a:t>
            </a:r>
          </a:p>
        </p:txBody>
      </p:sp>
      <p:pic>
        <p:nvPicPr>
          <p:cNvPr id="5" name="Picture 4" descr="Human Anatomy logo: three stylized figures."/>
          <p:cNvPicPr>
            <a:picLocks noChangeAspect="1"/>
          </p:cNvPicPr>
          <p:nvPr/>
        </p:nvPicPr>
        <p:blipFill>
          <a:blip r:embed="rId2"/>
          <a:stretch>
            <a:fillRect/>
          </a:stretch>
        </p:blipFill>
        <p:spPr>
          <a:xfrm>
            <a:off x="822960" y="411480"/>
            <a:ext cx="960120" cy="113737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2286000"/>
            <a:ext cx="10515600" cy="1463040"/>
          </a:xfrm>
        </p:spPr>
        <p:txBody>
          <a:bodyPr wrap="square"/>
          <a:lstStyle/>
          <a:p>
            <a:r>
              <a:rPr sz="4000" b="1" i="0">
                <a:solidFill>
                  <a:srgbClr val="FFFFFF"/>
                </a:solidFill>
                <a:latin typeface="Calibri"/>
              </a:rPr>
              <a:t>Definitions and Framing</a:t>
            </a:r>
          </a:p>
        </p:txBody>
      </p:sp>
      <p:sp>
        <p:nvSpPr>
          <p:cNvPr id="3" name="TextBox 2"/>
          <p:cNvSpPr txBox="1"/>
          <p:nvPr/>
        </p:nvSpPr>
        <p:spPr>
          <a:xfrm>
            <a:off x="822960" y="1828800"/>
            <a:ext cx="10515600" cy="457200"/>
          </a:xfrm>
          <a:prstGeom prst="rect">
            <a:avLst/>
          </a:prstGeom>
          <a:noFill/>
        </p:spPr>
        <p:txBody>
          <a:bodyPr wrap="square" lIns="0" rIns="0" tIns="0" bIns="0">
            <a:spAutoFit/>
          </a:bodyPr>
          <a:lstStyle/>
          <a:p>
            <a:r>
              <a:rPr sz="1500" b="1" i="0">
                <a:solidFill>
                  <a:srgbClr val="C9A14A"/>
                </a:solidFill>
                <a:latin typeface="Calibri"/>
              </a:rPr>
              <a:t>Part 1</a:t>
            </a:r>
          </a:p>
        </p:txBody>
      </p:sp>
      <p:sp>
        <p:nvSpPr>
          <p:cNvPr id="4" name="TextBox 3"/>
          <p:cNvSpPr txBox="1"/>
          <p:nvPr/>
        </p:nvSpPr>
        <p:spPr>
          <a:xfrm>
            <a:off x="822960" y="4114800"/>
            <a:ext cx="10332720" cy="1463040"/>
          </a:xfrm>
          <a:prstGeom prst="rect">
            <a:avLst/>
          </a:prstGeom>
          <a:noFill/>
        </p:spPr>
        <p:txBody>
          <a:bodyPr wrap="square" lIns="0" rIns="0" tIns="0" bIns="0">
            <a:spAutoFit/>
          </a:bodyPr>
          <a:lstStyle/>
          <a:p>
            <a:r>
              <a:rPr sz="1800" b="0" i="0">
                <a:solidFill>
                  <a:srgbClr val="E6EAF0"/>
                </a:solidFill>
                <a:latin typeface="Calibri"/>
              </a:rPr>
              <a:t>Anatomy gives us the words; physiology is what those structures do. Change the structure and you change the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How an anatomist thinks</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400"/>
              </a:spcAft>
            </a:pPr>
            <a:r>
              <a:rPr sz="2000" b="1" i="0">
                <a:solidFill>
                  <a:srgbClr val="8B3A2E"/>
                </a:solidFill>
                <a:latin typeface="Calibri"/>
              </a:rPr>
              <a:t>Anatomy </a:t>
            </a:r>
            <a:r>
              <a:rPr sz="2000" b="0" i="0">
                <a:solidFill>
                  <a:srgbClr val="0B1530"/>
                </a:solidFill>
                <a:latin typeface="Calibri"/>
              </a:rPr>
              <a:t>is the study of structure: what a part is, where it sits, and what it connects to.</a:t>
            </a:r>
          </a:p>
          <a:p>
            <a:pPr>
              <a:lnSpc>
                <a:spcPct val="106000"/>
              </a:lnSpc>
              <a:spcAft>
                <a:spcPts val="1400"/>
              </a:spcAft>
            </a:pPr>
            <a:r>
              <a:rPr sz="2000" b="1" i="0">
                <a:solidFill>
                  <a:srgbClr val="8B3A2E"/>
                </a:solidFill>
                <a:latin typeface="Calibri"/>
              </a:rPr>
              <a:t>Physiology </a:t>
            </a:r>
            <a:r>
              <a:rPr sz="2000" b="0" i="0">
                <a:solidFill>
                  <a:srgbClr val="0B1530"/>
                </a:solidFill>
                <a:latin typeface="Calibri"/>
              </a:rPr>
              <a:t>is the study of function: what that structure does and how it works.</a:t>
            </a:r>
          </a:p>
          <a:p>
            <a:pPr>
              <a:lnSpc>
                <a:spcPct val="106000"/>
              </a:lnSpc>
              <a:spcAft>
                <a:spcPts val="1400"/>
              </a:spcAft>
            </a:pPr>
            <a:r>
              <a:rPr sz="2000" b="1" i="0">
                <a:solidFill>
                  <a:srgbClr val="8B3A2E"/>
                </a:solidFill>
                <a:latin typeface="Calibri"/>
              </a:rPr>
              <a:t>Core idea: </a:t>
            </a:r>
            <a:r>
              <a:rPr sz="2000" b="0" i="0">
                <a:solidFill>
                  <a:srgbClr val="0B1530"/>
                </a:solidFill>
                <a:latin typeface="Calibri"/>
              </a:rPr>
              <a:t>structure determines function. When anatomy changes, physiology changes with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From structure to the clinic</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800"/>
              </a:spcAft>
            </a:pPr>
            <a:r>
              <a:rPr sz="1700" b="1" i="0">
                <a:solidFill>
                  <a:srgbClr val="8B3A2E"/>
                </a:solidFill>
                <a:latin typeface="Calibri"/>
              </a:rPr>
              <a:t>Disease: </a:t>
            </a:r>
            <a:r>
              <a:rPr sz="1700" b="0" i="0">
                <a:solidFill>
                  <a:srgbClr val="0B1530"/>
                </a:solidFill>
                <a:latin typeface="Calibri"/>
              </a:rPr>
              <a:t>a defined process with a known mechanism (for example, pneumonia).</a:t>
            </a:r>
          </a:p>
          <a:p>
            <a:pPr>
              <a:lnSpc>
                <a:spcPct val="106000"/>
              </a:lnSpc>
              <a:spcAft>
                <a:spcPts val="800"/>
              </a:spcAft>
            </a:pPr>
            <a:r>
              <a:rPr sz="1700" b="1" i="0">
                <a:solidFill>
                  <a:srgbClr val="8B3A2E"/>
                </a:solidFill>
                <a:latin typeface="Calibri"/>
              </a:rPr>
              <a:t>Disorder: </a:t>
            </a:r>
            <a:r>
              <a:rPr sz="1700" b="0" i="0">
                <a:solidFill>
                  <a:srgbClr val="0B1530"/>
                </a:solidFill>
                <a:latin typeface="Calibri"/>
              </a:rPr>
              <a:t>a disruption of normal function; mechanism not always single or known.</a:t>
            </a:r>
          </a:p>
          <a:p>
            <a:pPr>
              <a:lnSpc>
                <a:spcPct val="106000"/>
              </a:lnSpc>
              <a:spcAft>
                <a:spcPts val="800"/>
              </a:spcAft>
            </a:pPr>
            <a:r>
              <a:rPr sz="1700" b="1" i="0">
                <a:solidFill>
                  <a:srgbClr val="8B3A2E"/>
                </a:solidFill>
                <a:latin typeface="Calibri"/>
              </a:rPr>
              <a:t>Sign: </a:t>
            </a:r>
            <a:r>
              <a:rPr sz="1700" b="0" i="0">
                <a:solidFill>
                  <a:srgbClr val="0B1530"/>
                </a:solidFill>
                <a:latin typeface="Calibri"/>
              </a:rPr>
              <a:t>objective, measurable by someone else (fever, swelling, a lab value).</a:t>
            </a:r>
          </a:p>
          <a:p>
            <a:pPr>
              <a:lnSpc>
                <a:spcPct val="106000"/>
              </a:lnSpc>
              <a:spcAft>
                <a:spcPts val="800"/>
              </a:spcAft>
            </a:pPr>
            <a:r>
              <a:rPr sz="1700" b="1" i="0">
                <a:solidFill>
                  <a:srgbClr val="8B3A2E"/>
                </a:solidFill>
                <a:latin typeface="Calibri"/>
              </a:rPr>
              <a:t>Symptom: </a:t>
            </a:r>
            <a:r>
              <a:rPr sz="1700" b="0" i="0">
                <a:solidFill>
                  <a:srgbClr val="0B1530"/>
                </a:solidFill>
                <a:latin typeface="Calibri"/>
              </a:rPr>
              <a:t>subjective, reported by the patient (pain, nausea, fatigue).</a:t>
            </a:r>
          </a:p>
          <a:p>
            <a:pPr>
              <a:lnSpc>
                <a:spcPct val="106000"/>
              </a:lnSpc>
              <a:spcAft>
                <a:spcPts val="800"/>
              </a:spcAft>
            </a:pPr>
            <a:r>
              <a:rPr sz="1700" b="1" i="0">
                <a:solidFill>
                  <a:srgbClr val="8B3A2E"/>
                </a:solidFill>
                <a:latin typeface="Calibri"/>
              </a:rPr>
              <a:t>Exam findings: </a:t>
            </a:r>
            <a:r>
              <a:rPr sz="1700" b="0" i="0">
                <a:solidFill>
                  <a:srgbClr val="0B1530"/>
                </a:solidFill>
                <a:latin typeface="Calibri"/>
              </a:rPr>
              <a:t>what the clinician sees, feels, or hears.</a:t>
            </a:r>
          </a:p>
          <a:p>
            <a:pPr>
              <a:lnSpc>
                <a:spcPct val="106000"/>
              </a:lnSpc>
              <a:spcAft>
                <a:spcPts val="800"/>
              </a:spcAft>
            </a:pPr>
            <a:r>
              <a:rPr sz="1700" b="1" i="0">
                <a:solidFill>
                  <a:srgbClr val="8B3A2E"/>
                </a:solidFill>
                <a:latin typeface="Calibri"/>
              </a:rPr>
              <a:t>Labs and imaging: </a:t>
            </a:r>
            <a:r>
              <a:rPr sz="1700" b="0" i="0">
                <a:solidFill>
                  <a:srgbClr val="0B1530"/>
                </a:solidFill>
                <a:latin typeface="Calibri"/>
              </a:rPr>
              <a:t>structure and function measured directly (blood values, X-ray, 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Levels of structural organization</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pic>
        <p:nvPicPr>
          <p:cNvPr id="4" name="Picture 3" descr="Flow chart of the six levels of structural organization, building from smallest to largest: chemical (atoms and molecules), cellular (cells), tissue (groups of similar cells), organ (two or more tissues), organ-system (organs cooperating), organismal (all systems together, the whole person)."/>
          <p:cNvPicPr>
            <a:picLocks noChangeAspect="1"/>
          </p:cNvPicPr>
          <p:nvPr/>
        </p:nvPicPr>
        <p:blipFill>
          <a:blip r:embed="rId2"/>
          <a:stretch>
            <a:fillRect/>
          </a:stretch>
        </p:blipFill>
        <p:spPr>
          <a:xfrm>
            <a:off x="3108960" y="1691640"/>
            <a:ext cx="5943600" cy="472516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2286000"/>
            <a:ext cx="10515600" cy="1463040"/>
          </a:xfrm>
        </p:spPr>
        <p:txBody>
          <a:bodyPr wrap="square"/>
          <a:lstStyle/>
          <a:p>
            <a:r>
              <a:rPr sz="4000" b="1" i="0">
                <a:solidFill>
                  <a:srgbClr val="FFFFFF"/>
                </a:solidFill>
                <a:latin typeface="Calibri"/>
              </a:rPr>
              <a:t>Body Regions, Position, and Direction</a:t>
            </a:r>
          </a:p>
        </p:txBody>
      </p:sp>
      <p:sp>
        <p:nvSpPr>
          <p:cNvPr id="3" name="TextBox 2"/>
          <p:cNvSpPr txBox="1"/>
          <p:nvPr/>
        </p:nvSpPr>
        <p:spPr>
          <a:xfrm>
            <a:off x="822960" y="1828800"/>
            <a:ext cx="10515600" cy="457200"/>
          </a:xfrm>
          <a:prstGeom prst="rect">
            <a:avLst/>
          </a:prstGeom>
          <a:noFill/>
        </p:spPr>
        <p:txBody>
          <a:bodyPr wrap="square" lIns="0" rIns="0" tIns="0" bIns="0">
            <a:spAutoFit/>
          </a:bodyPr>
          <a:lstStyle/>
          <a:p>
            <a:r>
              <a:rPr sz="1500" b="1" i="0">
                <a:solidFill>
                  <a:srgbClr val="C9A14A"/>
                </a:solidFill>
                <a:latin typeface="Calibri"/>
              </a:rPr>
              <a:t>Part 2</a:t>
            </a:r>
          </a:p>
        </p:txBody>
      </p:sp>
      <p:sp>
        <p:nvSpPr>
          <p:cNvPr id="4" name="TextBox 3"/>
          <p:cNvSpPr txBox="1"/>
          <p:nvPr/>
        </p:nvSpPr>
        <p:spPr>
          <a:xfrm>
            <a:off x="822960" y="4114800"/>
            <a:ext cx="10332720" cy="1463040"/>
          </a:xfrm>
          <a:prstGeom prst="rect">
            <a:avLst/>
          </a:prstGeom>
          <a:noFill/>
        </p:spPr>
        <p:txBody>
          <a:bodyPr wrap="square" lIns="0" rIns="0" tIns="0" bIns="0">
            <a:spAutoFit/>
          </a:bodyPr>
          <a:lstStyle/>
          <a:p>
            <a:r>
              <a:rPr sz="1800" b="0" i="0">
                <a:solidFill>
                  <a:srgbClr val="E6EAF0"/>
                </a:solidFill>
                <a:latin typeface="Calibri"/>
              </a:rPr>
              <a:t>One agreed starting position, one set of planes, and paired directional terms let any two people describe the same spot the same way.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Anatomical position</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5852160" cy="4800600"/>
          </a:xfrm>
          <a:prstGeom prst="rect">
            <a:avLst/>
          </a:prstGeom>
          <a:noFill/>
        </p:spPr>
        <p:txBody>
          <a:bodyPr wrap="square" lIns="0" rIns="0" tIns="0" bIns="0">
            <a:spAutoFit/>
          </a:bodyPr>
          <a:lstStyle/>
          <a:p>
            <a:pPr>
              <a:lnSpc>
                <a:spcPct val="106000"/>
              </a:lnSpc>
              <a:spcAft>
                <a:spcPts val="1200"/>
              </a:spcAft>
            </a:pPr>
            <a:r>
              <a:rPr sz="1800" b="1" i="0">
                <a:solidFill>
                  <a:srgbClr val="8B3A2E"/>
                </a:solidFill>
                <a:latin typeface="Calibri"/>
              </a:rPr>
              <a:t>Anatomical position: </a:t>
            </a:r>
            <a:r>
              <a:rPr sz="1800" b="0" i="0">
                <a:solidFill>
                  <a:srgbClr val="0B1530"/>
                </a:solidFill>
                <a:latin typeface="Calibri"/>
              </a:rPr>
              <a:t>body erect, feet flat and slightly apart, head and eyes forward, arms at the sides, palms forward.</a:t>
            </a:r>
          </a:p>
          <a:p>
            <a:pPr>
              <a:lnSpc>
                <a:spcPct val="106000"/>
              </a:lnSpc>
              <a:spcAft>
                <a:spcPts val="1200"/>
              </a:spcAft>
            </a:pPr>
            <a:r>
              <a:rPr sz="1800" b="1" i="0">
                <a:solidFill>
                  <a:srgbClr val="8B3A2E"/>
                </a:solidFill>
                <a:latin typeface="Calibri"/>
              </a:rPr>
              <a:t>Why it matters: </a:t>
            </a:r>
            <a:r>
              <a:rPr sz="1800" b="0" i="0">
                <a:solidFill>
                  <a:srgbClr val="0B1530"/>
                </a:solidFill>
                <a:latin typeface="Calibri"/>
              </a:rPr>
              <a:t>every directional term assumes this position, so a description never changes with how the person is lying or standing.</a:t>
            </a:r>
          </a:p>
          <a:p>
            <a:pPr>
              <a:lnSpc>
                <a:spcPct val="106000"/>
              </a:lnSpc>
              <a:spcAft>
                <a:spcPts val="1200"/>
              </a:spcAft>
            </a:pPr>
            <a:r>
              <a:rPr sz="1800" b="1" i="0">
                <a:solidFill>
                  <a:srgbClr val="8B3A2E"/>
                </a:solidFill>
                <a:latin typeface="Calibri"/>
              </a:rPr>
              <a:t>Supine: </a:t>
            </a:r>
            <a:r>
              <a:rPr sz="1800" b="0" i="0">
                <a:solidFill>
                  <a:srgbClr val="0B1530"/>
                </a:solidFill>
                <a:latin typeface="Calibri"/>
              </a:rPr>
              <a:t>lying face up.  Prone: lying face down.</a:t>
            </a:r>
          </a:p>
        </p:txBody>
      </p:sp>
      <p:pic>
        <p:nvPicPr>
          <p:cNvPr id="5" name="Picture 4" descr="A person standing in anatomical position: upright, feet slightly apart, arms at the sides with palms facing forward."/>
          <p:cNvPicPr>
            <a:picLocks noChangeAspect="1"/>
          </p:cNvPicPr>
          <p:nvPr/>
        </p:nvPicPr>
        <p:blipFill>
          <a:blip r:embed="rId2"/>
          <a:stretch>
            <a:fillRect/>
          </a:stretch>
        </p:blipFill>
        <p:spPr>
          <a:xfrm>
            <a:off x="6858000" y="1691640"/>
            <a:ext cx="4754880" cy="26746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Body planes and sections</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5852160" cy="4800600"/>
          </a:xfrm>
          <a:prstGeom prst="rect">
            <a:avLst/>
          </a:prstGeom>
          <a:noFill/>
        </p:spPr>
        <p:txBody>
          <a:bodyPr wrap="square" lIns="0" rIns="0" tIns="0" bIns="0">
            <a:spAutoFit/>
          </a:bodyPr>
          <a:lstStyle/>
          <a:p>
            <a:pPr>
              <a:lnSpc>
                <a:spcPct val="106000"/>
              </a:lnSpc>
              <a:spcAft>
                <a:spcPts val="1000"/>
              </a:spcAft>
            </a:pPr>
            <a:r>
              <a:rPr sz="1700" b="1" i="0">
                <a:solidFill>
                  <a:srgbClr val="8B3A2E"/>
                </a:solidFill>
                <a:latin typeface="Calibri"/>
              </a:rPr>
              <a:t>Sagittal: </a:t>
            </a:r>
            <a:r>
              <a:rPr sz="1700" b="0" i="0">
                <a:solidFill>
                  <a:srgbClr val="0B1530"/>
                </a:solidFill>
                <a:latin typeface="Calibri"/>
              </a:rPr>
              <a:t>right and left parts. Midsagittal gives equal halves; parasagittal gives unequal parts.</a:t>
            </a:r>
          </a:p>
          <a:p>
            <a:pPr>
              <a:lnSpc>
                <a:spcPct val="106000"/>
              </a:lnSpc>
              <a:spcAft>
                <a:spcPts val="1000"/>
              </a:spcAft>
            </a:pPr>
            <a:r>
              <a:rPr sz="1700" b="1" i="0">
                <a:solidFill>
                  <a:srgbClr val="8B3A2E"/>
                </a:solidFill>
                <a:latin typeface="Calibri"/>
              </a:rPr>
              <a:t>Frontal (coronal): </a:t>
            </a:r>
            <a:r>
              <a:rPr sz="1700" b="0" i="0">
                <a:solidFill>
                  <a:srgbClr val="0B1530"/>
                </a:solidFill>
                <a:latin typeface="Calibri"/>
              </a:rPr>
              <a:t>anterior and posterior parts.</a:t>
            </a:r>
          </a:p>
          <a:p>
            <a:pPr>
              <a:lnSpc>
                <a:spcPct val="106000"/>
              </a:lnSpc>
              <a:spcAft>
                <a:spcPts val="1000"/>
              </a:spcAft>
            </a:pPr>
            <a:r>
              <a:rPr sz="1700" b="1" i="0">
                <a:solidFill>
                  <a:srgbClr val="8B3A2E"/>
                </a:solidFill>
                <a:latin typeface="Calibri"/>
              </a:rPr>
              <a:t>Transverse (horizontal): </a:t>
            </a:r>
            <a:r>
              <a:rPr sz="1700" b="0" i="0">
                <a:solidFill>
                  <a:srgbClr val="0B1530"/>
                </a:solidFill>
                <a:latin typeface="Calibri"/>
              </a:rPr>
              <a:t>superior and inferior parts, a cross section.</a:t>
            </a:r>
          </a:p>
          <a:p>
            <a:pPr>
              <a:lnSpc>
                <a:spcPct val="106000"/>
              </a:lnSpc>
              <a:spcAft>
                <a:spcPts val="1000"/>
              </a:spcAft>
            </a:pPr>
            <a:r>
              <a:rPr sz="1700" b="1" i="0">
                <a:solidFill>
                  <a:srgbClr val="8B3A2E"/>
                </a:solidFill>
                <a:latin typeface="Calibri"/>
              </a:rPr>
              <a:t>Oblique: </a:t>
            </a:r>
            <a:r>
              <a:rPr sz="1700" b="0" i="0">
                <a:solidFill>
                  <a:srgbClr val="0B1530"/>
                </a:solidFill>
                <a:latin typeface="Calibri"/>
              </a:rPr>
              <a:t>any angle other than 90 degrees.</a:t>
            </a:r>
          </a:p>
        </p:txBody>
      </p:sp>
      <p:pic>
        <p:nvPicPr>
          <p:cNvPr id="5" name="Picture 4" descr="Diagram of a standing body with the midsagittal, parasagittal, frontal (coronal), transverse, and oblique planes drawn through it and labeled."/>
          <p:cNvPicPr>
            <a:picLocks noChangeAspect="1"/>
          </p:cNvPicPr>
          <p:nvPr/>
        </p:nvPicPr>
        <p:blipFill>
          <a:blip r:embed="rId2"/>
          <a:stretch>
            <a:fillRect/>
          </a:stretch>
        </p:blipFill>
        <p:spPr>
          <a:xfrm>
            <a:off x="6858000" y="1691640"/>
            <a:ext cx="4937760" cy="277749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Directional terms come in pairs</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900"/>
              </a:spcAft>
            </a:pPr>
            <a:r>
              <a:rPr sz="1800" b="1" i="0">
                <a:solidFill>
                  <a:srgbClr val="8B3A2E"/>
                </a:solidFill>
                <a:latin typeface="Calibri"/>
              </a:rPr>
              <a:t>Superior / Inferior: </a:t>
            </a:r>
            <a:r>
              <a:rPr sz="1800" b="0" i="0">
                <a:solidFill>
                  <a:srgbClr val="0B1530"/>
                </a:solidFill>
                <a:latin typeface="Calibri"/>
              </a:rPr>
              <a:t>above versus below; toward the head or the feet.</a:t>
            </a:r>
          </a:p>
          <a:p>
            <a:pPr>
              <a:lnSpc>
                <a:spcPct val="106000"/>
              </a:lnSpc>
              <a:spcAft>
                <a:spcPts val="900"/>
              </a:spcAft>
            </a:pPr>
            <a:r>
              <a:rPr sz="1800" b="1" i="0">
                <a:solidFill>
                  <a:srgbClr val="8B3A2E"/>
                </a:solidFill>
                <a:latin typeface="Calibri"/>
              </a:rPr>
              <a:t>Anterior (ventral) / Posterior (dorsal): </a:t>
            </a:r>
            <a:r>
              <a:rPr sz="1800" b="0" i="0">
                <a:solidFill>
                  <a:srgbClr val="0B1530"/>
                </a:solidFill>
                <a:latin typeface="Calibri"/>
              </a:rPr>
              <a:t>toward the front versus the back.</a:t>
            </a:r>
          </a:p>
          <a:p>
            <a:pPr>
              <a:lnSpc>
                <a:spcPct val="106000"/>
              </a:lnSpc>
              <a:spcAft>
                <a:spcPts val="900"/>
              </a:spcAft>
            </a:pPr>
            <a:r>
              <a:rPr sz="1800" b="1" i="0">
                <a:solidFill>
                  <a:srgbClr val="8B3A2E"/>
                </a:solidFill>
                <a:latin typeface="Calibri"/>
              </a:rPr>
              <a:t>Medial / Lateral: </a:t>
            </a:r>
            <a:r>
              <a:rPr sz="1800" b="0" i="0">
                <a:solidFill>
                  <a:srgbClr val="0B1530"/>
                </a:solidFill>
                <a:latin typeface="Calibri"/>
              </a:rPr>
              <a:t>toward the midline versus away from it.</a:t>
            </a:r>
          </a:p>
          <a:p>
            <a:pPr>
              <a:lnSpc>
                <a:spcPct val="106000"/>
              </a:lnSpc>
              <a:spcAft>
                <a:spcPts val="900"/>
              </a:spcAft>
            </a:pPr>
            <a:r>
              <a:rPr sz="1800" b="1" i="0">
                <a:solidFill>
                  <a:srgbClr val="8B3A2E"/>
                </a:solidFill>
                <a:latin typeface="Calibri"/>
              </a:rPr>
              <a:t>Proximal / Distal: </a:t>
            </a:r>
            <a:r>
              <a:rPr sz="1800" b="0" i="0">
                <a:solidFill>
                  <a:srgbClr val="0B1530"/>
                </a:solidFill>
                <a:latin typeface="Calibri"/>
              </a:rPr>
              <a:t>nearer versus farther from the trunk (limbs).</a:t>
            </a:r>
          </a:p>
          <a:p>
            <a:pPr>
              <a:lnSpc>
                <a:spcPct val="106000"/>
              </a:lnSpc>
              <a:spcAft>
                <a:spcPts val="900"/>
              </a:spcAft>
            </a:pPr>
            <a:r>
              <a:rPr sz="1800" b="1" i="0">
                <a:solidFill>
                  <a:srgbClr val="8B3A2E"/>
                </a:solidFill>
                <a:latin typeface="Calibri"/>
              </a:rPr>
              <a:t>Superficial / Deep: </a:t>
            </a:r>
            <a:r>
              <a:rPr sz="1800" b="0" i="0">
                <a:solidFill>
                  <a:srgbClr val="0B1530"/>
                </a:solidFill>
                <a:latin typeface="Calibri"/>
              </a:rPr>
              <a:t>toward versus away from the body surface.</a:t>
            </a:r>
          </a:p>
          <a:p>
            <a:pPr>
              <a:lnSpc>
                <a:spcPct val="106000"/>
              </a:lnSpc>
              <a:spcAft>
                <a:spcPts val="900"/>
              </a:spcAft>
            </a:pPr>
            <a:r>
              <a:rPr sz="1800" b="1" i="0">
                <a:solidFill>
                  <a:srgbClr val="8B3A2E"/>
                </a:solidFill>
                <a:latin typeface="Calibri"/>
              </a:rPr>
              <a:t>Ipsilateral / Contralateral: </a:t>
            </a:r>
            <a:r>
              <a:rPr sz="1800" b="0" i="0">
                <a:solidFill>
                  <a:srgbClr val="0B1530"/>
                </a:solidFill>
                <a:latin typeface="Calibri"/>
              </a:rPr>
              <a:t>same side versus opposite side.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Regional terms: anterior and posterior</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pic>
        <p:nvPicPr>
          <p:cNvPr id="4" name="Picture 3" descr="Anterior view of the body with regional terms labeled: frontal, orbital, nasal, oral, buccal, mental, cervical, thoracic, sternal, mammary, abdominal, umbilical, brachial, antecubital, antebrachial, carpal, coxal, femoral, patellar, crural, tarsal."/>
          <p:cNvPicPr>
            <a:picLocks noChangeAspect="1"/>
          </p:cNvPicPr>
          <p:nvPr/>
        </p:nvPicPr>
        <p:blipFill>
          <a:blip r:embed="rId2"/>
          <a:stretch>
            <a:fillRect/>
          </a:stretch>
        </p:blipFill>
        <p:spPr>
          <a:xfrm>
            <a:off x="731520" y="1691640"/>
            <a:ext cx="5394960" cy="3034665"/>
          </a:xfrm>
          <a:prstGeom prst="rect">
            <a:avLst/>
          </a:prstGeom>
        </p:spPr>
      </p:pic>
      <p:pic>
        <p:nvPicPr>
          <p:cNvPr id="5" name="Picture 4" descr="Posterior view of the body with regional terms labeled: occipital, cervical, scapular, vertebral, lumbar, sacral, gluteal, femoral, popliteal, sural, calcaneal."/>
          <p:cNvPicPr>
            <a:picLocks noChangeAspect="1"/>
          </p:cNvPicPr>
          <p:nvPr/>
        </p:nvPicPr>
        <p:blipFill>
          <a:blip r:embed="rId3"/>
          <a:stretch>
            <a:fillRect/>
          </a:stretch>
        </p:blipFill>
        <p:spPr>
          <a:xfrm>
            <a:off x="6309360" y="1691640"/>
            <a:ext cx="5120640" cy="28803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Sorting regions: axial vs appendicular</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200"/>
              </a:spcAft>
            </a:pPr>
            <a:r>
              <a:rPr sz="1800" b="1" i="0">
                <a:solidFill>
                  <a:srgbClr val="8B3A2E"/>
                </a:solidFill>
                <a:latin typeface="Calibri"/>
              </a:rPr>
              <a:t>Axial </a:t>
            </a:r>
            <a:r>
              <a:rPr sz="1800" b="0" i="0">
                <a:solidFill>
                  <a:srgbClr val="0B1530"/>
                </a:solidFill>
                <a:latin typeface="Calibri"/>
              </a:rPr>
              <a:t>(head, neck, trunk): cephalic, cervical, thoracic, sternal, abdominal, umbilical, vertebral, lumbar, sacral, gluteal.</a:t>
            </a:r>
          </a:p>
          <a:p>
            <a:pPr>
              <a:lnSpc>
                <a:spcPct val="106000"/>
              </a:lnSpc>
              <a:spcAft>
                <a:spcPts val="1200"/>
              </a:spcAft>
            </a:pPr>
            <a:r>
              <a:rPr sz="1800" b="1" i="0">
                <a:solidFill>
                  <a:srgbClr val="8B3A2E"/>
                </a:solidFill>
                <a:latin typeface="Calibri"/>
              </a:rPr>
              <a:t>Appendicular </a:t>
            </a:r>
            <a:r>
              <a:rPr sz="1800" b="0" i="0">
                <a:solidFill>
                  <a:srgbClr val="0B1530"/>
                </a:solidFill>
                <a:latin typeface="Calibri"/>
              </a:rPr>
              <a:t>(limbs): acromial, brachial, antecubital, antebrachial, carpal, digital, coxal, femoral, patellar, crural, sural, tarsal.</a:t>
            </a:r>
          </a:p>
          <a:p>
            <a:pPr>
              <a:lnSpc>
                <a:spcPct val="106000"/>
              </a:lnSpc>
              <a:spcAft>
                <a:spcPts val="1200"/>
              </a:spcAft>
            </a:pPr>
            <a:r>
              <a:rPr sz="1800" b="1" i="0">
                <a:solidFill>
                  <a:srgbClr val="8B3A2E"/>
                </a:solidFill>
                <a:latin typeface="Calibri"/>
              </a:rPr>
              <a:t>Sort </a:t>
            </a:r>
            <a:r>
              <a:rPr sz="1800" b="0" i="0">
                <a:solidFill>
                  <a:srgbClr val="0B1530"/>
                </a:solidFill>
                <a:latin typeface="Calibri"/>
              </a:rPr>
              <a:t>every regional term into one of these two buckets as you learn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2286000"/>
            <a:ext cx="10515600" cy="1463040"/>
          </a:xfrm>
        </p:spPr>
        <p:txBody>
          <a:bodyPr wrap="square"/>
          <a:lstStyle/>
          <a:p>
            <a:r>
              <a:rPr sz="4000" b="1" i="0">
                <a:solidFill>
                  <a:srgbClr val="FFFFFF"/>
                </a:solidFill>
                <a:latin typeface="Calibri"/>
              </a:rPr>
              <a:t>Body Cavities and Abdominopelvic Quadrants</a:t>
            </a:r>
          </a:p>
        </p:txBody>
      </p:sp>
      <p:sp>
        <p:nvSpPr>
          <p:cNvPr id="3" name="TextBox 2"/>
          <p:cNvSpPr txBox="1"/>
          <p:nvPr/>
        </p:nvSpPr>
        <p:spPr>
          <a:xfrm>
            <a:off x="822960" y="1828800"/>
            <a:ext cx="10515600" cy="457200"/>
          </a:xfrm>
          <a:prstGeom prst="rect">
            <a:avLst/>
          </a:prstGeom>
          <a:noFill/>
        </p:spPr>
        <p:txBody>
          <a:bodyPr wrap="square" lIns="0" rIns="0" tIns="0" bIns="0">
            <a:spAutoFit/>
          </a:bodyPr>
          <a:lstStyle/>
          <a:p>
            <a:r>
              <a:rPr sz="1500" b="1" i="0">
                <a:solidFill>
                  <a:srgbClr val="C9A14A"/>
                </a:solidFill>
                <a:latin typeface="Calibri"/>
              </a:rPr>
              <a:t>Part 3</a:t>
            </a:r>
          </a:p>
        </p:txBody>
      </p:sp>
      <p:sp>
        <p:nvSpPr>
          <p:cNvPr id="4" name="TextBox 3"/>
          <p:cNvSpPr txBox="1"/>
          <p:nvPr/>
        </p:nvSpPr>
        <p:spPr>
          <a:xfrm>
            <a:off x="822960" y="4114800"/>
            <a:ext cx="10332720" cy="1463040"/>
          </a:xfrm>
          <a:prstGeom prst="rect">
            <a:avLst/>
          </a:prstGeom>
          <a:noFill/>
        </p:spPr>
        <p:txBody>
          <a:bodyPr wrap="square" lIns="0" rIns="0" tIns="0" bIns="0">
            <a:spAutoFit/>
          </a:bodyPr>
          <a:lstStyle/>
          <a:p>
            <a:r>
              <a:rPr sz="1800" b="0" i="0">
                <a:solidFill>
                  <a:srgbClr val="E6EAF0"/>
                </a:solidFill>
                <a:latin typeface="Calibri"/>
              </a:rPr>
              <a:t>The organs live inside enclosed spaces. Name the space and you have narrowed down what can go wrong there.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The body cavities</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100"/>
              </a:spcAft>
            </a:pPr>
            <a:r>
              <a:rPr sz="1800" b="1" i="0">
                <a:solidFill>
                  <a:srgbClr val="8B3A2E"/>
                </a:solidFill>
                <a:latin typeface="Calibri"/>
              </a:rPr>
              <a:t>Dorsal body cavity: </a:t>
            </a:r>
            <a:r>
              <a:rPr sz="1800" b="0" i="0">
                <a:solidFill>
                  <a:srgbClr val="0B1530"/>
                </a:solidFill>
                <a:latin typeface="Calibri"/>
              </a:rPr>
              <a:t>the cranial cavity (brain) and the vertebral cavity (spinal cord).</a:t>
            </a:r>
          </a:p>
          <a:p>
            <a:pPr>
              <a:lnSpc>
                <a:spcPct val="106000"/>
              </a:lnSpc>
              <a:spcAft>
                <a:spcPts val="1100"/>
              </a:spcAft>
            </a:pPr>
            <a:r>
              <a:rPr sz="1800" b="1" i="0">
                <a:solidFill>
                  <a:srgbClr val="8B3A2E"/>
                </a:solidFill>
                <a:latin typeface="Calibri"/>
              </a:rPr>
              <a:t>Ventral body cavity: </a:t>
            </a:r>
            <a:r>
              <a:rPr sz="1800" b="0" i="0">
                <a:solidFill>
                  <a:srgbClr val="0B1530"/>
                </a:solidFill>
                <a:latin typeface="Calibri"/>
              </a:rPr>
              <a:t>the thoracic cavity (heart and lungs) and the abdominopelvic cavity, separated by the diaphragm.</a:t>
            </a:r>
          </a:p>
          <a:p>
            <a:pPr>
              <a:lnSpc>
                <a:spcPct val="106000"/>
              </a:lnSpc>
              <a:spcAft>
                <a:spcPts val="1100"/>
              </a:spcAft>
            </a:pPr>
            <a:r>
              <a:rPr sz="1800" b="1" i="0">
                <a:solidFill>
                  <a:srgbClr val="8B3A2E"/>
                </a:solidFill>
                <a:latin typeface="Calibri"/>
              </a:rPr>
              <a:t>Inside the thorax: </a:t>
            </a:r>
            <a:r>
              <a:rPr sz="1800" b="0" i="0">
                <a:solidFill>
                  <a:srgbClr val="0B1530"/>
                </a:solidFill>
                <a:latin typeface="Calibri"/>
              </a:rPr>
              <a:t>two pleural cavities (one per lung) and the mediastinum; the pericardial cavity (heart) sits within the mediastinum.</a:t>
            </a:r>
          </a:p>
          <a:p>
            <a:pPr>
              <a:lnSpc>
                <a:spcPct val="106000"/>
              </a:lnSpc>
              <a:spcAft>
                <a:spcPts val="1100"/>
              </a:spcAft>
            </a:pPr>
            <a:r>
              <a:rPr sz="1800" b="1" i="0">
                <a:solidFill>
                  <a:srgbClr val="8B3A2E"/>
                </a:solidFill>
                <a:latin typeface="Calibri"/>
              </a:rPr>
              <a:t>Abdominopelvic: </a:t>
            </a:r>
            <a:r>
              <a:rPr sz="1800" b="0" i="0">
                <a:solidFill>
                  <a:srgbClr val="0B1530"/>
                </a:solidFill>
                <a:latin typeface="Calibri"/>
              </a:rPr>
              <a:t>the abdominal cavity (digestive viscera) above and the pelvic cavity (bladder, reproductive organs, rectum) below.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Body cavities at a glance</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pic>
        <p:nvPicPr>
          <p:cNvPr id="4" name="Picture 3" descr="Organization chart of the body cavities. Dorsal body cavity: cranial cavity (brain) and vertebral cavity (spinal cord). Ventral body cavity: thoracic cavity (above the diaphragm), which contains the pleural cavities (lungs) and the mediastinum (heart in the pericardial cavity); and the abdominopelvic cavity (below the diaphragm), which contains the abdominal cavity (digestive viscera) and the pelvic cavity (bladder, reproductive organs, rectum)."/>
          <p:cNvPicPr>
            <a:picLocks noChangeAspect="1"/>
          </p:cNvPicPr>
          <p:nvPr/>
        </p:nvPicPr>
        <p:blipFill>
          <a:blip r:embed="rId2"/>
          <a:stretch>
            <a:fillRect/>
          </a:stretch>
        </p:blipFill>
        <p:spPr>
          <a:xfrm>
            <a:off x="3310128" y="1508760"/>
            <a:ext cx="5577840" cy="469584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Abdominopelvic quadrants</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6035040" cy="4800600"/>
          </a:xfrm>
          <a:prstGeom prst="rect">
            <a:avLst/>
          </a:prstGeom>
          <a:noFill/>
        </p:spPr>
        <p:txBody>
          <a:bodyPr wrap="square" lIns="0" rIns="0" tIns="0" bIns="0">
            <a:spAutoFit/>
          </a:bodyPr>
          <a:lstStyle/>
          <a:p>
            <a:pPr>
              <a:lnSpc>
                <a:spcPct val="106000"/>
              </a:lnSpc>
              <a:spcAft>
                <a:spcPts val="1200"/>
              </a:spcAft>
            </a:pPr>
            <a:r>
              <a:rPr sz="1800" b="1" i="0">
                <a:solidFill>
                  <a:srgbClr val="8B3A2E"/>
                </a:solidFill>
                <a:latin typeface="Calibri"/>
              </a:rPr>
              <a:t>Four quadrants: </a:t>
            </a:r>
            <a:r>
              <a:rPr sz="1800" b="0" i="0">
                <a:solidFill>
                  <a:srgbClr val="0B1530"/>
                </a:solidFill>
                <a:latin typeface="Calibri"/>
              </a:rPr>
              <a:t>two lines through the navel give RUQ, LUQ, RLQ, LLQ.</a:t>
            </a:r>
          </a:p>
          <a:p>
            <a:pPr>
              <a:lnSpc>
                <a:spcPct val="106000"/>
              </a:lnSpc>
              <a:spcAft>
                <a:spcPts val="1200"/>
              </a:spcAft>
            </a:pPr>
            <a:r>
              <a:rPr sz="1800" b="1" i="0">
                <a:solidFill>
                  <a:srgbClr val="8B3A2E"/>
                </a:solidFill>
                <a:latin typeface="Calibri"/>
              </a:rPr>
              <a:t>Why: </a:t>
            </a:r>
            <a:r>
              <a:rPr sz="1800" b="0" i="0">
                <a:solidFill>
                  <a:srgbClr val="0B1530"/>
                </a:solidFill>
                <a:latin typeface="Calibri"/>
              </a:rPr>
              <a:t>the location of pain points toward the organs in that quadrant.</a:t>
            </a:r>
          </a:p>
          <a:p>
            <a:pPr>
              <a:lnSpc>
                <a:spcPct val="106000"/>
              </a:lnSpc>
              <a:spcAft>
                <a:spcPts val="1200"/>
              </a:spcAft>
            </a:pPr>
            <a:r>
              <a:rPr sz="1800" b="1" i="0">
                <a:solidFill>
                  <a:srgbClr val="8B3A2E"/>
                </a:solidFill>
                <a:latin typeface="Calibri"/>
              </a:rPr>
              <a:t>Examples: </a:t>
            </a:r>
            <a:r>
              <a:rPr sz="1800" b="0" i="0">
                <a:solidFill>
                  <a:srgbClr val="0B1530"/>
                </a:solidFill>
                <a:latin typeface="Calibri"/>
              </a:rPr>
              <a:t>RLQ pain raises the appendix; RUQ pain raises the gallbladder and liver.</a:t>
            </a:r>
          </a:p>
        </p:txBody>
      </p:sp>
      <p:pic>
        <p:nvPicPr>
          <p:cNvPr id="5" name="Picture 4" descr="Anterior view of the abdomen divided by a vertical and a horizontal line through the navel into four quadrants: right upper, left upper, right lower, left lower."/>
          <p:cNvPicPr>
            <a:picLocks noChangeAspect="1"/>
          </p:cNvPicPr>
          <p:nvPr/>
        </p:nvPicPr>
        <p:blipFill>
          <a:blip r:embed="rId2"/>
          <a:stretch>
            <a:fillRect/>
          </a:stretch>
        </p:blipFill>
        <p:spPr>
          <a:xfrm>
            <a:off x="6949440" y="1737360"/>
            <a:ext cx="4754880" cy="26746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Key organs by quadrant</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100"/>
              </a:spcAft>
            </a:pPr>
            <a:r>
              <a:rPr sz="1800" b="1" i="0">
                <a:solidFill>
                  <a:srgbClr val="8B3A2E"/>
                </a:solidFill>
                <a:latin typeface="Calibri"/>
              </a:rPr>
              <a:t>RUQ: </a:t>
            </a:r>
            <a:r>
              <a:rPr sz="1800" b="0" i="0">
                <a:solidFill>
                  <a:srgbClr val="0B1530"/>
                </a:solidFill>
                <a:latin typeface="Calibri"/>
              </a:rPr>
              <a:t>liver, gallbladder, right kidney, head of pancreas, parts of stomach and intestine.</a:t>
            </a:r>
          </a:p>
          <a:p>
            <a:pPr>
              <a:lnSpc>
                <a:spcPct val="106000"/>
              </a:lnSpc>
              <a:spcAft>
                <a:spcPts val="1100"/>
              </a:spcAft>
            </a:pPr>
            <a:r>
              <a:rPr sz="1800" b="1" i="0">
                <a:solidFill>
                  <a:srgbClr val="8B3A2E"/>
                </a:solidFill>
                <a:latin typeface="Calibri"/>
              </a:rPr>
              <a:t>LUQ: </a:t>
            </a:r>
            <a:r>
              <a:rPr sz="1800" b="0" i="0">
                <a:solidFill>
                  <a:srgbClr val="0B1530"/>
                </a:solidFill>
                <a:latin typeface="Calibri"/>
              </a:rPr>
              <a:t>stomach, spleen, left kidney, body and tail of pancreas, parts of intestine.</a:t>
            </a:r>
          </a:p>
          <a:p>
            <a:pPr>
              <a:lnSpc>
                <a:spcPct val="106000"/>
              </a:lnSpc>
              <a:spcAft>
                <a:spcPts val="1100"/>
              </a:spcAft>
            </a:pPr>
            <a:r>
              <a:rPr sz="1800" b="1" i="0">
                <a:solidFill>
                  <a:srgbClr val="8B3A2E"/>
                </a:solidFill>
                <a:latin typeface="Calibri"/>
              </a:rPr>
              <a:t>RLQ: </a:t>
            </a:r>
            <a:r>
              <a:rPr sz="1800" b="0" i="0">
                <a:solidFill>
                  <a:srgbClr val="0B1530"/>
                </a:solidFill>
                <a:latin typeface="Calibri"/>
              </a:rPr>
              <a:t>appendix, cecum, ascending colon, right ovary and uterine tube, right ureter.</a:t>
            </a:r>
          </a:p>
          <a:p>
            <a:pPr>
              <a:lnSpc>
                <a:spcPct val="106000"/>
              </a:lnSpc>
              <a:spcAft>
                <a:spcPts val="1100"/>
              </a:spcAft>
            </a:pPr>
            <a:r>
              <a:rPr sz="1800" b="1" i="0">
                <a:solidFill>
                  <a:srgbClr val="8B3A2E"/>
                </a:solidFill>
                <a:latin typeface="Calibri"/>
              </a:rPr>
              <a:t>LLQ: </a:t>
            </a:r>
            <a:r>
              <a:rPr sz="1800" b="0" i="0">
                <a:solidFill>
                  <a:srgbClr val="0B1530"/>
                </a:solidFill>
                <a:latin typeface="Calibri"/>
              </a:rPr>
              <a:t>sigmoid and descending colon, left ovary and uterine tube, left ureter.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Nine abdominopelvic regions</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200"/>
              </a:spcAft>
            </a:pPr>
            <a:r>
              <a:rPr sz="1800" b="1" i="0">
                <a:solidFill>
                  <a:srgbClr val="8B3A2E"/>
                </a:solidFill>
                <a:latin typeface="Calibri"/>
              </a:rPr>
              <a:t>Top row: </a:t>
            </a:r>
            <a:r>
              <a:rPr sz="1800" b="0" i="0">
                <a:solidFill>
                  <a:srgbClr val="0B1530"/>
                </a:solidFill>
                <a:latin typeface="Calibri"/>
              </a:rPr>
              <a:t>right hypochondriac, epigastric, left hypochondriac.</a:t>
            </a:r>
          </a:p>
          <a:p>
            <a:pPr>
              <a:lnSpc>
                <a:spcPct val="106000"/>
              </a:lnSpc>
              <a:spcAft>
                <a:spcPts val="1200"/>
              </a:spcAft>
            </a:pPr>
            <a:r>
              <a:rPr sz="1800" b="1" i="0">
                <a:solidFill>
                  <a:srgbClr val="8B3A2E"/>
                </a:solidFill>
                <a:latin typeface="Calibri"/>
              </a:rPr>
              <a:t>Middle row: </a:t>
            </a:r>
            <a:r>
              <a:rPr sz="1800" b="0" i="0">
                <a:solidFill>
                  <a:srgbClr val="0B1530"/>
                </a:solidFill>
                <a:latin typeface="Calibri"/>
              </a:rPr>
              <a:t>right lumbar, umbilical, left lumbar.</a:t>
            </a:r>
          </a:p>
          <a:p>
            <a:pPr>
              <a:lnSpc>
                <a:spcPct val="106000"/>
              </a:lnSpc>
              <a:spcAft>
                <a:spcPts val="1200"/>
              </a:spcAft>
            </a:pPr>
            <a:r>
              <a:rPr sz="1800" b="1" i="0">
                <a:solidFill>
                  <a:srgbClr val="8B3A2E"/>
                </a:solidFill>
                <a:latin typeface="Calibri"/>
              </a:rPr>
              <a:t>Bottom row: </a:t>
            </a:r>
            <a:r>
              <a:rPr sz="1800" b="0" i="0">
                <a:solidFill>
                  <a:srgbClr val="0B1530"/>
                </a:solidFill>
                <a:latin typeface="Calibri"/>
              </a:rPr>
              <a:t>right iliac (inguinal), hypogastric (pubic), left iliac (inguinal).</a:t>
            </a:r>
          </a:p>
          <a:p>
            <a:pPr>
              <a:lnSpc>
                <a:spcPct val="106000"/>
              </a:lnSpc>
              <a:spcAft>
                <a:spcPts val="1200"/>
              </a:spcAft>
            </a:pPr>
            <a:r>
              <a:rPr sz="1800" b="1" i="0">
                <a:solidFill>
                  <a:srgbClr val="8B3A2E"/>
                </a:solidFill>
                <a:latin typeface="Calibri"/>
              </a:rPr>
              <a:t>Use </a:t>
            </a:r>
            <a:r>
              <a:rPr sz="1800" b="0" i="0">
                <a:solidFill>
                  <a:srgbClr val="0B1530"/>
                </a:solidFill>
                <a:latin typeface="Calibri"/>
              </a:rPr>
              <a:t>the nine regions when you need to localize more tightly than a quadrant.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2286000"/>
            <a:ext cx="10515600" cy="1463040"/>
          </a:xfrm>
        </p:spPr>
        <p:txBody>
          <a:bodyPr wrap="square"/>
          <a:lstStyle/>
          <a:p>
            <a:r>
              <a:rPr sz="4000" b="1" i="0">
                <a:solidFill>
                  <a:srgbClr val="FFFFFF"/>
                </a:solidFill>
                <a:latin typeface="Calibri"/>
              </a:rPr>
              <a:t>The Mediastinum</a:t>
            </a:r>
          </a:p>
        </p:txBody>
      </p:sp>
      <p:sp>
        <p:nvSpPr>
          <p:cNvPr id="3" name="TextBox 2"/>
          <p:cNvSpPr txBox="1"/>
          <p:nvPr/>
        </p:nvSpPr>
        <p:spPr>
          <a:xfrm>
            <a:off x="822960" y="1828800"/>
            <a:ext cx="10515600" cy="457200"/>
          </a:xfrm>
          <a:prstGeom prst="rect">
            <a:avLst/>
          </a:prstGeom>
          <a:noFill/>
        </p:spPr>
        <p:txBody>
          <a:bodyPr wrap="square" lIns="0" rIns="0" tIns="0" bIns="0">
            <a:spAutoFit/>
          </a:bodyPr>
          <a:lstStyle/>
          <a:p>
            <a:r>
              <a:rPr sz="1500" b="1" i="0">
                <a:solidFill>
                  <a:srgbClr val="C9A14A"/>
                </a:solidFill>
                <a:latin typeface="Calibri"/>
              </a:rPr>
              <a:t>Part 4</a:t>
            </a:r>
          </a:p>
        </p:txBody>
      </p:sp>
      <p:sp>
        <p:nvSpPr>
          <p:cNvPr id="4" name="TextBox 3"/>
          <p:cNvSpPr txBox="1"/>
          <p:nvPr/>
        </p:nvSpPr>
        <p:spPr>
          <a:xfrm>
            <a:off x="822960" y="4114800"/>
            <a:ext cx="10332720" cy="1463040"/>
          </a:xfrm>
          <a:prstGeom prst="rect">
            <a:avLst/>
          </a:prstGeom>
          <a:noFill/>
        </p:spPr>
        <p:txBody>
          <a:bodyPr wrap="square" lIns="0" rIns="0" tIns="0" bIns="0">
            <a:spAutoFit/>
          </a:bodyPr>
          <a:lstStyle/>
          <a:p>
            <a:r>
              <a:rPr sz="1800" b="0" i="0">
                <a:solidFill>
                  <a:srgbClr val="E6EAF0"/>
                </a:solidFill>
                <a:latin typeface="Calibri"/>
              </a:rPr>
              <a:t>The central compartment of the thorax, between the two lungs.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What sits in the mediastinum</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200"/>
              </a:spcAft>
            </a:pPr>
            <a:r>
              <a:rPr sz="1900" b="1" i="0">
                <a:solidFill>
                  <a:srgbClr val="8B3A2E"/>
                </a:solidFill>
                <a:latin typeface="Calibri"/>
              </a:rPr>
              <a:t>Location: </a:t>
            </a:r>
            <a:r>
              <a:rPr sz="1900" b="0" i="0">
                <a:solidFill>
                  <a:srgbClr val="0B1530"/>
                </a:solidFill>
                <a:latin typeface="Calibri"/>
              </a:rPr>
              <a:t>between the two pleural cavities, from sternum to vertebral column.</a:t>
            </a:r>
          </a:p>
          <a:p>
            <a:pPr>
              <a:lnSpc>
                <a:spcPct val="106000"/>
              </a:lnSpc>
              <a:spcAft>
                <a:spcPts val="1200"/>
              </a:spcAft>
            </a:pPr>
            <a:r>
              <a:rPr sz="1900" b="1" i="0">
                <a:solidFill>
                  <a:srgbClr val="8B3A2E"/>
                </a:solidFill>
                <a:latin typeface="Calibri"/>
              </a:rPr>
              <a:t>Contents: </a:t>
            </a:r>
            <a:r>
              <a:rPr sz="1900" b="0" i="0">
                <a:solidFill>
                  <a:srgbClr val="0B1530"/>
                </a:solidFill>
                <a:latin typeface="Calibri"/>
              </a:rPr>
              <a:t>the heart (in its pericardial sac), the great vessels, the trachea and esophagus, the thymus, and major nerves.</a:t>
            </a:r>
          </a:p>
          <a:p>
            <a:pPr>
              <a:lnSpc>
                <a:spcPct val="106000"/>
              </a:lnSpc>
              <a:spcAft>
                <a:spcPts val="1200"/>
              </a:spcAft>
            </a:pPr>
            <a:r>
              <a:rPr sz="1900" b="1" i="0">
                <a:solidFill>
                  <a:srgbClr val="8B3A2E"/>
                </a:solidFill>
                <a:latin typeface="Calibri"/>
              </a:rPr>
              <a:t>Not the lungs: </a:t>
            </a:r>
            <a:r>
              <a:rPr sz="1900" b="0" i="0">
                <a:solidFill>
                  <a:srgbClr val="0B1530"/>
                </a:solidFill>
                <a:latin typeface="Calibri"/>
              </a:rPr>
              <a:t>the lungs sit in the pleural cavities on either side.</a:t>
            </a:r>
          </a:p>
          <a:p>
            <a:pPr>
              <a:lnSpc>
                <a:spcPct val="106000"/>
              </a:lnSpc>
              <a:spcAft>
                <a:spcPts val="1200"/>
              </a:spcAft>
            </a:pPr>
            <a:r>
              <a:rPr sz="1900" b="1" i="0">
                <a:solidFill>
                  <a:srgbClr val="8B3A2E"/>
                </a:solidFill>
                <a:latin typeface="Calibri"/>
              </a:rPr>
              <a:t>Clinical: </a:t>
            </a:r>
            <a:r>
              <a:rPr sz="1900" b="0" i="0">
                <a:solidFill>
                  <a:srgbClr val="0B1530"/>
                </a:solidFill>
                <a:latin typeface="Calibri"/>
              </a:rPr>
              <a:t>a widened mediastinum on an X-ray is a red flag (for example, aortic injury).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2286000"/>
            <a:ext cx="10515600" cy="1463040"/>
          </a:xfrm>
        </p:spPr>
        <p:txBody>
          <a:bodyPr wrap="square"/>
          <a:lstStyle/>
          <a:p>
            <a:r>
              <a:rPr sz="4000" b="1" i="0">
                <a:solidFill>
                  <a:srgbClr val="FFFFFF"/>
                </a:solidFill>
                <a:latin typeface="Calibri"/>
              </a:rPr>
              <a:t>The Retroperitoneum</a:t>
            </a:r>
          </a:p>
        </p:txBody>
      </p:sp>
      <p:sp>
        <p:nvSpPr>
          <p:cNvPr id="3" name="TextBox 2"/>
          <p:cNvSpPr txBox="1"/>
          <p:nvPr/>
        </p:nvSpPr>
        <p:spPr>
          <a:xfrm>
            <a:off x="822960" y="1828800"/>
            <a:ext cx="10515600" cy="457200"/>
          </a:xfrm>
          <a:prstGeom prst="rect">
            <a:avLst/>
          </a:prstGeom>
          <a:noFill/>
        </p:spPr>
        <p:txBody>
          <a:bodyPr wrap="square" lIns="0" rIns="0" tIns="0" bIns="0">
            <a:spAutoFit/>
          </a:bodyPr>
          <a:lstStyle/>
          <a:p>
            <a:r>
              <a:rPr sz="1500" b="1" i="0">
                <a:solidFill>
                  <a:srgbClr val="C9A14A"/>
                </a:solidFill>
                <a:latin typeface="Calibri"/>
              </a:rPr>
              <a:t>Part 5</a:t>
            </a:r>
          </a:p>
        </p:txBody>
      </p:sp>
      <p:sp>
        <p:nvSpPr>
          <p:cNvPr id="4" name="TextBox 3"/>
          <p:cNvSpPr txBox="1"/>
          <p:nvPr/>
        </p:nvSpPr>
        <p:spPr>
          <a:xfrm>
            <a:off x="822960" y="4114800"/>
            <a:ext cx="10332720" cy="1463040"/>
          </a:xfrm>
          <a:prstGeom prst="rect">
            <a:avLst/>
          </a:prstGeom>
          <a:noFill/>
        </p:spPr>
        <p:txBody>
          <a:bodyPr wrap="square" lIns="0" rIns="0" tIns="0" bIns="0">
            <a:spAutoFit/>
          </a:bodyPr>
          <a:lstStyle/>
          <a:p>
            <a:r>
              <a:rPr sz="1800" b="0" i="0">
                <a:solidFill>
                  <a:srgbClr val="E6EAF0"/>
                </a:solidFill>
                <a:latin typeface="Calibri"/>
              </a:rPr>
              <a:t>Some organs sit behind the lining of the abdominal cavity rather than inside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Behind the peritoneum</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900"/>
              </a:spcAft>
            </a:pPr>
            <a:r>
              <a:rPr sz="1700" b="1" i="0">
                <a:solidFill>
                  <a:srgbClr val="8B3A2E"/>
                </a:solidFill>
                <a:latin typeface="Calibri"/>
              </a:rPr>
              <a:t>Definition: </a:t>
            </a:r>
            <a:r>
              <a:rPr sz="1700" b="0" i="0">
                <a:solidFill>
                  <a:srgbClr val="0B1530"/>
                </a:solidFill>
                <a:latin typeface="Calibri"/>
              </a:rPr>
              <a:t>the space behind the parietal peritoneum, against the posterior abdominal wall.</a:t>
            </a:r>
          </a:p>
          <a:p>
            <a:pPr>
              <a:lnSpc>
                <a:spcPct val="106000"/>
              </a:lnSpc>
              <a:spcAft>
                <a:spcPts val="900"/>
              </a:spcAft>
            </a:pPr>
            <a:r>
              <a:rPr sz="1700" b="1" i="0">
                <a:solidFill>
                  <a:srgbClr val="8B3A2E"/>
                </a:solidFill>
                <a:latin typeface="Calibri"/>
              </a:rPr>
              <a:t>Intraperitoneal: </a:t>
            </a:r>
            <a:r>
              <a:rPr sz="1700" b="0" i="0">
                <a:solidFill>
                  <a:srgbClr val="0B1530"/>
                </a:solidFill>
                <a:latin typeface="Calibri"/>
              </a:rPr>
              <a:t>organs hang inside the cavity, wrapped in peritoneum (stomach, most small intestine, liver, spleen).</a:t>
            </a:r>
          </a:p>
          <a:p>
            <a:pPr>
              <a:lnSpc>
                <a:spcPct val="106000"/>
              </a:lnSpc>
              <a:spcAft>
                <a:spcPts val="900"/>
              </a:spcAft>
            </a:pPr>
            <a:r>
              <a:rPr sz="1700" b="1" i="0">
                <a:solidFill>
                  <a:srgbClr val="8B3A2E"/>
                </a:solidFill>
                <a:latin typeface="Calibri"/>
              </a:rPr>
              <a:t>Retroperitoneal: </a:t>
            </a:r>
            <a:r>
              <a:rPr sz="1700" b="0" i="0">
                <a:solidFill>
                  <a:srgbClr val="0B1530"/>
                </a:solidFill>
                <a:latin typeface="Calibri"/>
              </a:rPr>
              <a:t>organs sit behind it, covered by peritoneum only on their anterior surface.</a:t>
            </a:r>
          </a:p>
          <a:p>
            <a:pPr>
              <a:lnSpc>
                <a:spcPct val="106000"/>
              </a:lnSpc>
              <a:spcAft>
                <a:spcPts val="900"/>
              </a:spcAft>
            </a:pPr>
            <a:r>
              <a:rPr sz="1700" b="1" i="0">
                <a:solidFill>
                  <a:srgbClr val="8B3A2E"/>
                </a:solidFill>
                <a:latin typeface="Calibri"/>
              </a:rPr>
              <a:t>SAD PUCKER: </a:t>
            </a:r>
            <a:r>
              <a:rPr sz="1700" b="0" i="0">
                <a:solidFill>
                  <a:srgbClr val="0B1530"/>
                </a:solidFill>
                <a:latin typeface="Calibri"/>
              </a:rPr>
              <a:t>Suprarenal glands, Aorta and IVC, Duodenum, Pancreas (except tail), Ureters, Colon (ascending and descending), Kidneys, Esophagus, Rectum.</a:t>
            </a:r>
          </a:p>
          <a:p>
            <a:pPr>
              <a:lnSpc>
                <a:spcPct val="106000"/>
              </a:lnSpc>
              <a:spcAft>
                <a:spcPts val="900"/>
              </a:spcAft>
            </a:pPr>
            <a:r>
              <a:rPr sz="1700" b="1" i="0">
                <a:solidFill>
                  <a:srgbClr val="8B3A2E"/>
                </a:solidFill>
                <a:latin typeface="Calibri"/>
              </a:rPr>
              <a:t>Why it matters: </a:t>
            </a:r>
            <a:r>
              <a:rPr sz="1700" b="0" i="0">
                <a:solidFill>
                  <a:srgbClr val="0B1530"/>
                </a:solidFill>
                <a:latin typeface="Calibri"/>
              </a:rPr>
              <a:t>reached without entering the peritoneal cavity.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Intraperitoneal vs retroperitoneal</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pic>
        <p:nvPicPr>
          <p:cNvPr id="4" name="Picture 3" descr="Transverse cross-section of the abdomen: anterior at top, posterior at bottom. A peritoneal cavity bounded by the parietal peritoneum sits toward the front and holds an intraperitoneal organ wrapped in visceral peritoneum on a mesentery. Behind the cavity, against the posterior wall beside the vertebra, sit the retroperitoneal organs (SAD PUCKER), covered by peritoneum only on their front surface."/>
          <p:cNvPicPr>
            <a:picLocks noChangeAspect="1"/>
          </p:cNvPicPr>
          <p:nvPr/>
        </p:nvPicPr>
        <p:blipFill>
          <a:blip r:embed="rId2"/>
          <a:stretch>
            <a:fillRect/>
          </a:stretch>
        </p:blipFill>
        <p:spPr>
          <a:xfrm>
            <a:off x="3383280" y="1508760"/>
            <a:ext cx="5486400" cy="394335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2286000"/>
            <a:ext cx="10515600" cy="1463040"/>
          </a:xfrm>
        </p:spPr>
        <p:txBody>
          <a:bodyPr wrap="square"/>
          <a:lstStyle/>
          <a:p>
            <a:r>
              <a:rPr sz="4000" b="1" i="0">
                <a:solidFill>
                  <a:srgbClr val="FFFFFF"/>
                </a:solidFill>
                <a:latin typeface="Calibri"/>
              </a:rPr>
              <a:t>Membranes: Mucous and Serous</a:t>
            </a:r>
          </a:p>
        </p:txBody>
      </p:sp>
      <p:sp>
        <p:nvSpPr>
          <p:cNvPr id="3" name="TextBox 2"/>
          <p:cNvSpPr txBox="1"/>
          <p:nvPr/>
        </p:nvSpPr>
        <p:spPr>
          <a:xfrm>
            <a:off x="822960" y="1828800"/>
            <a:ext cx="10515600" cy="457200"/>
          </a:xfrm>
          <a:prstGeom prst="rect">
            <a:avLst/>
          </a:prstGeom>
          <a:noFill/>
        </p:spPr>
        <p:txBody>
          <a:bodyPr wrap="square" lIns="0" rIns="0" tIns="0" bIns="0">
            <a:spAutoFit/>
          </a:bodyPr>
          <a:lstStyle/>
          <a:p>
            <a:r>
              <a:rPr sz="1500" b="1" i="0">
                <a:solidFill>
                  <a:srgbClr val="C9A14A"/>
                </a:solidFill>
                <a:latin typeface="Calibri"/>
              </a:rPr>
              <a:t>Part 6</a:t>
            </a:r>
          </a:p>
        </p:txBody>
      </p:sp>
      <p:sp>
        <p:nvSpPr>
          <p:cNvPr id="4" name="TextBox 3"/>
          <p:cNvSpPr txBox="1"/>
          <p:nvPr/>
        </p:nvSpPr>
        <p:spPr>
          <a:xfrm>
            <a:off x="822960" y="4114800"/>
            <a:ext cx="10332720" cy="1463040"/>
          </a:xfrm>
          <a:prstGeom prst="rect">
            <a:avLst/>
          </a:prstGeom>
          <a:noFill/>
        </p:spPr>
        <p:txBody>
          <a:bodyPr wrap="square" lIns="0" rIns="0" tIns="0" bIns="0">
            <a:spAutoFit/>
          </a:bodyPr>
          <a:lstStyle/>
          <a:p>
            <a:r>
              <a:rPr sz="1800" b="0" i="0">
                <a:solidFill>
                  <a:srgbClr val="E6EAF0"/>
                </a:solidFill>
                <a:latin typeface="Calibri"/>
              </a:rPr>
              <a:t>Serous membranes wrap the heart, lungs, and abdominal organs.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Two membrane types to separate</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100"/>
              </a:spcAft>
            </a:pPr>
            <a:r>
              <a:rPr sz="1800" b="1" i="0">
                <a:solidFill>
                  <a:srgbClr val="8B3A2E"/>
                </a:solidFill>
                <a:latin typeface="Calibri"/>
              </a:rPr>
              <a:t>Mucous membranes </a:t>
            </a:r>
            <a:r>
              <a:rPr sz="1800" b="0" i="0">
                <a:solidFill>
                  <a:srgbClr val="0B1530"/>
                </a:solidFill>
                <a:latin typeface="Calibri"/>
              </a:rPr>
              <a:t>line cavities that open to the outside (respiratory, digestive, urinary, reproductive). They secrete mucus.</a:t>
            </a:r>
          </a:p>
          <a:p>
            <a:pPr>
              <a:lnSpc>
                <a:spcPct val="106000"/>
              </a:lnSpc>
              <a:spcAft>
                <a:spcPts val="1100"/>
              </a:spcAft>
            </a:pPr>
            <a:r>
              <a:rPr sz="1800" b="1" i="0">
                <a:solidFill>
                  <a:srgbClr val="8B3A2E"/>
                </a:solidFill>
                <a:latin typeface="Calibri"/>
              </a:rPr>
              <a:t>Serous membranes </a:t>
            </a:r>
            <a:r>
              <a:rPr sz="1800" b="0" i="0">
                <a:solidFill>
                  <a:srgbClr val="0B1530"/>
                </a:solidFill>
                <a:latin typeface="Calibri"/>
              </a:rPr>
              <a:t>line closed cavities and cover the organs inside them. They secrete thin serous fluid that reduces friction.</a:t>
            </a:r>
          </a:p>
          <a:p>
            <a:pPr>
              <a:lnSpc>
                <a:spcPct val="106000"/>
              </a:lnSpc>
              <a:spcAft>
                <a:spcPts val="1100"/>
              </a:spcAft>
            </a:pPr>
            <a:r>
              <a:rPr sz="1800" b="1" i="0">
                <a:solidFill>
                  <a:srgbClr val="8B3A2E"/>
                </a:solidFill>
                <a:latin typeface="Calibri"/>
              </a:rPr>
              <a:t>Two layers: </a:t>
            </a:r>
            <a:r>
              <a:rPr sz="1800" b="0" i="0">
                <a:solidFill>
                  <a:srgbClr val="0B1530"/>
                </a:solidFill>
                <a:latin typeface="Calibri"/>
              </a:rPr>
              <a:t>a parietal layer (lines the wall) and a visceral layer (covers the organ).</a:t>
            </a:r>
          </a:p>
          <a:p>
            <a:pPr>
              <a:lnSpc>
                <a:spcPct val="106000"/>
              </a:lnSpc>
              <a:spcAft>
                <a:spcPts val="1100"/>
              </a:spcAft>
            </a:pPr>
            <a:r>
              <a:rPr sz="1800" b="1" i="0">
                <a:solidFill>
                  <a:srgbClr val="8B3A2E"/>
                </a:solidFill>
                <a:latin typeface="Calibri"/>
              </a:rPr>
              <a:t>Between them: </a:t>
            </a:r>
            <a:r>
              <a:rPr sz="1800" b="0" i="0">
                <a:solidFill>
                  <a:srgbClr val="0B1530"/>
                </a:solidFill>
                <a:latin typeface="Calibri"/>
              </a:rPr>
              <a:t>a fluid-filled serous cavity.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Every serous membrane shares one plan</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pic>
        <p:nvPicPr>
          <p:cNvPr id="4" name="Picture 3" descr="Schematic of a serous membrane: an organ wrapped by an inner visceral layer, a serous cavity with a thin film of serous fluid around it, and an outer parietal layer that lines the cavity wall. The same plan applies to the pleura (lungs), pericardium (heart), and peritoneum (abdominal organs)."/>
          <p:cNvPicPr>
            <a:picLocks noChangeAspect="1"/>
          </p:cNvPicPr>
          <p:nvPr/>
        </p:nvPicPr>
        <p:blipFill>
          <a:blip r:embed="rId2"/>
          <a:stretch>
            <a:fillRect/>
          </a:stretch>
        </p:blipFill>
        <p:spPr>
          <a:xfrm>
            <a:off x="2377440" y="1783080"/>
            <a:ext cx="7406640" cy="408291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Pleura: around the lungs</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200"/>
              </a:spcAft>
            </a:pPr>
            <a:r>
              <a:rPr sz="1900" b="0" i="0">
                <a:solidFill>
                  <a:srgbClr val="0B1530"/>
                </a:solidFill>
                <a:latin typeface="Calibri"/>
              </a:rPr>
              <a:t>Parietal pleura lines the thoracic wall; visceral pleura covers the lung.</a:t>
            </a:r>
          </a:p>
          <a:p>
            <a:pPr>
              <a:lnSpc>
                <a:spcPct val="106000"/>
              </a:lnSpc>
              <a:spcAft>
                <a:spcPts val="1200"/>
              </a:spcAft>
            </a:pPr>
            <a:r>
              <a:rPr sz="1900" b="0" i="0">
                <a:solidFill>
                  <a:srgbClr val="0B1530"/>
                </a:solidFill>
                <a:latin typeface="Calibri"/>
              </a:rPr>
              <a:t>Between them: the pleural cavity with pleural fluid.</a:t>
            </a:r>
          </a:p>
          <a:p>
            <a:pPr>
              <a:lnSpc>
                <a:spcPct val="106000"/>
              </a:lnSpc>
              <a:spcAft>
                <a:spcPts val="1200"/>
              </a:spcAft>
            </a:pPr>
            <a:r>
              <a:rPr sz="1900" b="0" i="0">
                <a:solidFill>
                  <a:srgbClr val="0B1530"/>
                </a:solidFill>
                <a:latin typeface="Calibri"/>
              </a:rPr>
              <a:t>Inflammation is pleuritis; air in the cavity is a pneumothorax.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Pericardium: around the heart</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200"/>
              </a:spcAft>
            </a:pPr>
            <a:r>
              <a:rPr sz="1900" b="0" i="0">
                <a:solidFill>
                  <a:srgbClr val="0B1530"/>
                </a:solidFill>
                <a:latin typeface="Calibri"/>
              </a:rPr>
              <a:t>Parietal pericardium lines the fibrous sac; visceral pericardium (epicardium) covers the heart.</a:t>
            </a:r>
          </a:p>
          <a:p>
            <a:pPr>
              <a:lnSpc>
                <a:spcPct val="106000"/>
              </a:lnSpc>
              <a:spcAft>
                <a:spcPts val="1200"/>
              </a:spcAft>
            </a:pPr>
            <a:r>
              <a:rPr sz="1900" b="0" i="0">
                <a:solidFill>
                  <a:srgbClr val="0B1530"/>
                </a:solidFill>
                <a:latin typeface="Calibri"/>
              </a:rPr>
              <a:t>Between them: the pericardial cavity with pericardial fluid.</a:t>
            </a:r>
          </a:p>
          <a:p>
            <a:pPr>
              <a:lnSpc>
                <a:spcPct val="106000"/>
              </a:lnSpc>
              <a:spcAft>
                <a:spcPts val="1200"/>
              </a:spcAft>
            </a:pPr>
            <a:r>
              <a:rPr sz="1900" b="0" i="0">
                <a:solidFill>
                  <a:srgbClr val="0B1530"/>
                </a:solidFill>
                <a:latin typeface="Calibri"/>
              </a:rPr>
              <a:t>Fluid building up here can compress the heart: cardiac tamponade.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Peritoneum: around the abdominal organs</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200"/>
              </a:spcAft>
            </a:pPr>
            <a:r>
              <a:rPr sz="1900" b="0" i="0">
                <a:solidFill>
                  <a:srgbClr val="0B1530"/>
                </a:solidFill>
                <a:latin typeface="Calibri"/>
              </a:rPr>
              <a:t>Parietal peritoneum lines the abdominal wall; visceral peritoneum covers the organs.</a:t>
            </a:r>
          </a:p>
          <a:p>
            <a:pPr>
              <a:lnSpc>
                <a:spcPct val="106000"/>
              </a:lnSpc>
              <a:spcAft>
                <a:spcPts val="1200"/>
              </a:spcAft>
            </a:pPr>
            <a:r>
              <a:rPr sz="1900" b="0" i="0">
                <a:solidFill>
                  <a:srgbClr val="0B1530"/>
                </a:solidFill>
                <a:latin typeface="Calibri"/>
              </a:rPr>
              <a:t>Between them: the peritoneal cavity with peritoneal fluid.</a:t>
            </a:r>
          </a:p>
          <a:p>
            <a:pPr>
              <a:lnSpc>
                <a:spcPct val="106000"/>
              </a:lnSpc>
              <a:spcAft>
                <a:spcPts val="1200"/>
              </a:spcAft>
            </a:pPr>
            <a:r>
              <a:rPr sz="1900" b="0" i="0">
                <a:solidFill>
                  <a:srgbClr val="0B1530"/>
                </a:solidFill>
                <a:latin typeface="Calibri"/>
              </a:rPr>
              <a:t>Inflammation is peritonitis; retroperitoneal organs sit behind this cavity.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2286000"/>
            <a:ext cx="10515600" cy="1463040"/>
          </a:xfrm>
        </p:spPr>
        <p:txBody>
          <a:bodyPr wrap="square"/>
          <a:lstStyle/>
          <a:p>
            <a:r>
              <a:rPr sz="4000" b="1" i="0">
                <a:solidFill>
                  <a:srgbClr val="FFFFFF"/>
                </a:solidFill>
                <a:latin typeface="Calibri"/>
              </a:rPr>
              <a:t>Problem Solving with the Terminology</a:t>
            </a:r>
          </a:p>
        </p:txBody>
      </p:sp>
      <p:sp>
        <p:nvSpPr>
          <p:cNvPr id="3" name="TextBox 2"/>
          <p:cNvSpPr txBox="1"/>
          <p:nvPr/>
        </p:nvSpPr>
        <p:spPr>
          <a:xfrm>
            <a:off x="822960" y="1828800"/>
            <a:ext cx="10515600" cy="457200"/>
          </a:xfrm>
          <a:prstGeom prst="rect">
            <a:avLst/>
          </a:prstGeom>
          <a:noFill/>
        </p:spPr>
        <p:txBody>
          <a:bodyPr wrap="square" lIns="0" rIns="0" tIns="0" bIns="0">
            <a:spAutoFit/>
          </a:bodyPr>
          <a:lstStyle/>
          <a:p>
            <a:r>
              <a:rPr sz="1500" b="1" i="0">
                <a:solidFill>
                  <a:srgbClr val="C9A14A"/>
                </a:solidFill>
                <a:latin typeface="Calibri"/>
              </a:rPr>
              <a:t>Part 7</a:t>
            </a:r>
          </a:p>
        </p:txBody>
      </p:sp>
      <p:sp>
        <p:nvSpPr>
          <p:cNvPr id="4" name="TextBox 3"/>
          <p:cNvSpPr txBox="1"/>
          <p:nvPr/>
        </p:nvSpPr>
        <p:spPr>
          <a:xfrm>
            <a:off x="822960" y="4114800"/>
            <a:ext cx="10332720" cy="1463040"/>
          </a:xfrm>
          <a:prstGeom prst="rect">
            <a:avLst/>
          </a:prstGeom>
          <a:noFill/>
        </p:spPr>
        <p:txBody>
          <a:bodyPr wrap="square" lIns="0" rIns="0" tIns="0" bIns="0">
            <a:spAutoFit/>
          </a:bodyPr>
          <a:lstStyle/>
          <a:p>
            <a:r>
              <a:rPr sz="1800" b="0" i="0">
                <a:solidFill>
                  <a:srgbClr val="E6EAF0"/>
                </a:solidFill>
                <a:latin typeface="Calibri"/>
              </a:rPr>
              <a:t>Locate, predict, and interpret, the same skills a clinician uses every day.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Recall: name it (DOK 1)</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DOK 1 · RECALL</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800"/>
              </a:spcAft>
            </a:pPr>
            <a:r>
              <a:rPr sz="2000" b="1" i="0">
                <a:solidFill>
                  <a:srgbClr val="8B3A2E"/>
                </a:solidFill>
                <a:latin typeface="Calibri"/>
              </a:rPr>
              <a:t>Recall </a:t>
            </a:r>
            <a:r>
              <a:rPr sz="2000" b="0" i="0">
                <a:solidFill>
                  <a:srgbClr val="0B1530"/>
                </a:solidFill>
                <a:latin typeface="Calibri"/>
              </a:rPr>
              <a:t>asks you to state a fact or term directly.</a:t>
            </a:r>
          </a:p>
          <a:p>
            <a:pPr>
              <a:lnSpc>
                <a:spcPct val="106000"/>
              </a:lnSpc>
              <a:spcAft>
                <a:spcPts val="1800"/>
              </a:spcAft>
            </a:pPr>
            <a:r>
              <a:rPr sz="2000" b="1" i="0">
                <a:solidFill>
                  <a:srgbClr val="8B3A2E"/>
                </a:solidFill>
                <a:latin typeface="Calibri"/>
              </a:rPr>
              <a:t>Q. </a:t>
            </a:r>
            <a:r>
              <a:rPr sz="2000" b="0" i="0">
                <a:solidFill>
                  <a:srgbClr val="0B1530"/>
                </a:solidFill>
                <a:latin typeface="Calibri"/>
              </a:rPr>
              <a:t>The wrist is ______ to the elbow.  (Proximal / Distal / Superficial)</a:t>
            </a:r>
          </a:p>
          <a:p>
            <a:pPr>
              <a:lnSpc>
                <a:spcPct val="106000"/>
              </a:lnSpc>
              <a:spcAft>
                <a:spcPts val="1800"/>
              </a:spcAft>
            </a:pPr>
            <a:r>
              <a:rPr sz="2000" b="1" i="0">
                <a:solidFill>
                  <a:srgbClr val="8B3A2E"/>
                </a:solidFill>
                <a:latin typeface="Calibri"/>
              </a:rPr>
              <a:t>Answer: </a:t>
            </a:r>
            <a:r>
              <a:rPr sz="2000" b="0" i="0">
                <a:solidFill>
                  <a:srgbClr val="0B1530"/>
                </a:solidFill>
                <a:latin typeface="Calibri"/>
              </a:rPr>
              <a:t>Distal, farther from the trunk than the elbow.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Apply: use the concept (DOK 2)</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DOK 2 · SKILL / CONCEPT</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600"/>
              </a:spcAft>
            </a:pPr>
            <a:r>
              <a:rPr sz="1900" b="1" i="0">
                <a:solidFill>
                  <a:srgbClr val="8B3A2E"/>
                </a:solidFill>
                <a:latin typeface="Calibri"/>
              </a:rPr>
              <a:t>Apply </a:t>
            </a:r>
            <a:r>
              <a:rPr sz="1900" b="0" i="0">
                <a:solidFill>
                  <a:srgbClr val="0B1530"/>
                </a:solidFill>
                <a:latin typeface="Calibri"/>
              </a:rPr>
              <a:t>asks you to use a concept or classify, not just recall.</a:t>
            </a:r>
          </a:p>
          <a:p>
            <a:pPr>
              <a:lnSpc>
                <a:spcPct val="106000"/>
              </a:lnSpc>
              <a:spcAft>
                <a:spcPts val="1600"/>
              </a:spcAft>
            </a:pPr>
            <a:r>
              <a:rPr sz="1900" b="1" i="0">
                <a:solidFill>
                  <a:srgbClr val="8B3A2E"/>
                </a:solidFill>
                <a:latin typeface="Calibri"/>
              </a:rPr>
              <a:t>Q. </a:t>
            </a:r>
            <a:r>
              <a:rPr sz="1900" b="0" i="0">
                <a:solidFill>
                  <a:srgbClr val="0B1530"/>
                </a:solidFill>
                <a:latin typeface="Calibri"/>
              </a:rPr>
              <a:t>A patient has right-lower-quadrant tenderness. Which organ does that location most directly raise?  (Gallbladder / Appendix / Spleen)</a:t>
            </a:r>
          </a:p>
          <a:p>
            <a:pPr>
              <a:lnSpc>
                <a:spcPct val="106000"/>
              </a:lnSpc>
              <a:spcAft>
                <a:spcPts val="1600"/>
              </a:spcAft>
            </a:pPr>
            <a:r>
              <a:rPr sz="1900" b="1" i="0">
                <a:solidFill>
                  <a:srgbClr val="8B3A2E"/>
                </a:solidFill>
                <a:latin typeface="Calibri"/>
              </a:rPr>
              <a:t>Answer: </a:t>
            </a:r>
            <a:r>
              <a:rPr sz="1900" b="0" i="0">
                <a:solidFill>
                  <a:srgbClr val="0B1530"/>
                </a:solidFill>
                <a:latin typeface="Calibri"/>
              </a:rPr>
              <a:t>Appendix, which sits in the RLQ, so RLQ tenderness raises appendicitis.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Reason: put it together (DOK 3)</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DOK 3 · STRATEGIC REASONING</a:t>
            </a:r>
          </a:p>
        </p:txBody>
      </p:sp>
      <p:sp>
        <p:nvSpPr>
          <p:cNvPr id="4" name="TextBox 3"/>
          <p:cNvSpPr txBox="1"/>
          <p:nvPr/>
        </p:nvSpPr>
        <p:spPr>
          <a:xfrm>
            <a:off x="640080" y="1783080"/>
            <a:ext cx="10972800" cy="4800600"/>
          </a:xfrm>
          <a:prstGeom prst="rect">
            <a:avLst/>
          </a:prstGeom>
          <a:noFill/>
        </p:spPr>
        <p:txBody>
          <a:bodyPr wrap="square" lIns="0" rIns="0" tIns="0" bIns="0">
            <a:spAutoFit/>
          </a:bodyPr>
          <a:lstStyle/>
          <a:p>
            <a:pPr>
              <a:lnSpc>
                <a:spcPct val="106000"/>
              </a:lnSpc>
              <a:spcAft>
                <a:spcPts val="1200"/>
              </a:spcAft>
            </a:pPr>
            <a:r>
              <a:rPr sz="1800" b="1" i="0">
                <a:solidFill>
                  <a:srgbClr val="8B3A2E"/>
                </a:solidFill>
                <a:latin typeface="Calibri"/>
              </a:rPr>
              <a:t>Reason </a:t>
            </a:r>
            <a:r>
              <a:rPr sz="1800" b="0" i="0">
                <a:solidFill>
                  <a:srgbClr val="0B1530"/>
                </a:solidFill>
                <a:latin typeface="Calibri"/>
              </a:rPr>
              <a:t>asks you to connect several ideas and justify the answer.</a:t>
            </a:r>
          </a:p>
          <a:p>
            <a:pPr>
              <a:lnSpc>
                <a:spcPct val="106000"/>
              </a:lnSpc>
              <a:spcAft>
                <a:spcPts val="1200"/>
              </a:spcAft>
            </a:pPr>
            <a:r>
              <a:rPr sz="1800" b="1" i="0">
                <a:solidFill>
                  <a:srgbClr val="8B3A2E"/>
                </a:solidFill>
                <a:latin typeface="Calibri"/>
              </a:rPr>
              <a:t>Q. </a:t>
            </a:r>
            <a:r>
              <a:rPr sz="1800" b="0" i="0">
                <a:solidFill>
                  <a:srgbClr val="0B1530"/>
                </a:solidFill>
                <a:latin typeface="Calibri"/>
              </a:rPr>
              <a:t>A note reads: free fluid in the pleural cavity, right side. Between which structures is the fluid, and what is it called?</a:t>
            </a:r>
          </a:p>
          <a:p>
            <a:pPr>
              <a:lnSpc>
                <a:spcPct val="106000"/>
              </a:lnSpc>
              <a:spcAft>
                <a:spcPts val="1200"/>
              </a:spcAft>
            </a:pPr>
            <a:r>
              <a:rPr sz="1800" b="1" i="0">
                <a:solidFill>
                  <a:srgbClr val="8B3A2E"/>
                </a:solidFill>
                <a:latin typeface="Calibri"/>
              </a:rPr>
              <a:t>Answer: </a:t>
            </a:r>
            <a:r>
              <a:rPr sz="1800" b="0" i="0">
                <a:solidFill>
                  <a:srgbClr val="0B1530"/>
                </a:solidFill>
                <a:latin typeface="Calibri"/>
              </a:rPr>
              <a:t>Between the parietal and visceral pleura, around the right lung, a pleural effusion. You linked the cavity, its two layers, and the clinical term.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713232"/>
            <a:ext cx="10972800" cy="822960"/>
          </a:xfrm>
        </p:spPr>
        <p:txBody>
          <a:bodyPr/>
          <a:lstStyle/>
          <a:p>
            <a:r>
              <a:rPr sz="3000" b="1" i="0">
                <a:solidFill>
                  <a:srgbClr val="0B1530"/>
                </a:solidFill>
                <a:latin typeface="Calibri"/>
              </a:rPr>
              <a:t>Label it from memory</a:t>
            </a:r>
          </a:p>
        </p:txBody>
      </p:sp>
      <p:sp>
        <p:nvSpPr>
          <p:cNvPr id="3" name="TextBox 2"/>
          <p:cNvSpPr txBox="1"/>
          <p:nvPr/>
        </p:nvSpPr>
        <p:spPr>
          <a:xfrm>
            <a:off x="640080" y="365760"/>
            <a:ext cx="10972800" cy="365760"/>
          </a:xfrm>
          <a:prstGeom prst="rect">
            <a:avLst/>
          </a:prstGeom>
          <a:noFill/>
        </p:spPr>
        <p:txBody>
          <a:bodyPr wrap="square" lIns="0" rIns="0" tIns="0" bIns="0">
            <a:spAutoFit/>
          </a:bodyPr>
          <a:lstStyle/>
          <a:p>
            <a:r>
              <a:rPr sz="1200" b="1" i="0">
                <a:solidFill>
                  <a:srgbClr val="8B3A2E"/>
                </a:solidFill>
                <a:latin typeface="Calibri"/>
              </a:rPr>
              <a:t>HUMAN ANATOMY · FOUNDATIONS</a:t>
            </a:r>
          </a:p>
        </p:txBody>
      </p:sp>
      <p:sp>
        <p:nvSpPr>
          <p:cNvPr id="4" name="TextBox 3"/>
          <p:cNvSpPr txBox="1"/>
          <p:nvPr/>
        </p:nvSpPr>
        <p:spPr>
          <a:xfrm>
            <a:off x="640080" y="1783080"/>
            <a:ext cx="5852160" cy="4800600"/>
          </a:xfrm>
          <a:prstGeom prst="rect">
            <a:avLst/>
          </a:prstGeom>
          <a:noFill/>
        </p:spPr>
        <p:txBody>
          <a:bodyPr wrap="square" lIns="0" rIns="0" tIns="0" bIns="0">
            <a:spAutoFit/>
          </a:bodyPr>
          <a:lstStyle/>
          <a:p>
            <a:pPr>
              <a:lnSpc>
                <a:spcPct val="106000"/>
              </a:lnSpc>
              <a:spcAft>
                <a:spcPts val="1200"/>
              </a:spcAft>
            </a:pPr>
            <a:r>
              <a:rPr sz="1800" b="0" i="0">
                <a:solidFill>
                  <a:srgbClr val="0B1530"/>
                </a:solidFill>
                <a:latin typeface="Calibri"/>
              </a:rPr>
              <a:t>Cover the labeled slide. Name every arrow on this blank diagram.</a:t>
            </a:r>
          </a:p>
          <a:p>
            <a:pPr>
              <a:lnSpc>
                <a:spcPct val="106000"/>
              </a:lnSpc>
              <a:spcAft>
                <a:spcPts val="1200"/>
              </a:spcAft>
            </a:pPr>
            <a:r>
              <a:rPr sz="1800" b="0" i="0">
                <a:solidFill>
                  <a:srgbClr val="0B1530"/>
                </a:solidFill>
                <a:latin typeface="Calibri"/>
              </a:rPr>
              <a:t>Then sort each region as axial or appendicular.</a:t>
            </a:r>
          </a:p>
          <a:p>
            <a:pPr>
              <a:lnSpc>
                <a:spcPct val="106000"/>
              </a:lnSpc>
              <a:spcAft>
                <a:spcPts val="1200"/>
              </a:spcAft>
            </a:pPr>
            <a:r>
              <a:rPr sz="1800" b="0" i="0">
                <a:solidFill>
                  <a:srgbClr val="0B1530"/>
                </a:solidFill>
                <a:latin typeface="Calibri"/>
              </a:rPr>
              <a:t>Draw the four planes through the figure and say what each divides.</a:t>
            </a:r>
          </a:p>
        </p:txBody>
      </p:sp>
      <p:pic>
        <p:nvPicPr>
          <p:cNvPr id="5" name="Picture 4" descr="Blank anterior view of the body with unlabeled arrows pointing to regions, for the student to fill in."/>
          <p:cNvPicPr>
            <a:picLocks noChangeAspect="1"/>
          </p:cNvPicPr>
          <p:nvPr/>
        </p:nvPicPr>
        <p:blipFill>
          <a:blip r:embed="rId2"/>
          <a:stretch>
            <a:fillRect/>
          </a:stretch>
        </p:blipFill>
        <p:spPr>
          <a:xfrm>
            <a:off x="6858000" y="1737360"/>
            <a:ext cx="4937760" cy="277749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1530"/>
        </a:solidFill>
        <a:effectLst/>
      </p:bgPr>
    </p:bg>
    <p:spTree>
      <p:nvGrpSpPr>
        <p:cNvPr id="1" name=""/>
        <p:cNvGrpSpPr/>
        <p:nvPr/>
      </p:nvGrpSpPr>
      <p:grpSpPr/>
      <p:sp>
        <p:nvSpPr>
          <p:cNvPr id="2" name="Title 1"/>
          <p:cNvSpPr>
            <a:spLocks noGrp="1"/>
          </p:cNvSpPr>
          <p:nvPr>
            <p:ph type="title"/>
          </p:nvPr>
        </p:nvSpPr>
        <p:spPr>
          <a:xfrm>
            <a:off x="822960" y="1051560"/>
            <a:ext cx="10515600" cy="731520"/>
          </a:xfrm>
        </p:spPr>
        <p:txBody>
          <a:bodyPr/>
          <a:lstStyle/>
          <a:p>
            <a:r>
              <a:rPr sz="3000" b="1" i="0">
                <a:solidFill>
                  <a:srgbClr val="FFFFFF"/>
                </a:solidFill>
                <a:latin typeface="Calibri"/>
              </a:rPr>
              <a:t>Foundations in five lines</a:t>
            </a:r>
          </a:p>
        </p:txBody>
      </p:sp>
      <p:sp>
        <p:nvSpPr>
          <p:cNvPr id="3" name="TextBox 2"/>
          <p:cNvSpPr txBox="1"/>
          <p:nvPr/>
        </p:nvSpPr>
        <p:spPr>
          <a:xfrm>
            <a:off x="822960" y="640080"/>
            <a:ext cx="10515600" cy="457200"/>
          </a:xfrm>
          <a:prstGeom prst="rect">
            <a:avLst/>
          </a:prstGeom>
          <a:noFill/>
        </p:spPr>
        <p:txBody>
          <a:bodyPr wrap="square" lIns="0" rIns="0" tIns="0" bIns="0">
            <a:spAutoFit/>
          </a:bodyPr>
          <a:lstStyle/>
          <a:p>
            <a:r>
              <a:rPr sz="1500" b="1" i="0">
                <a:solidFill>
                  <a:srgbClr val="C9A14A"/>
                </a:solidFill>
                <a:latin typeface="Calibri"/>
              </a:rPr>
              <a:t>KEY TAKEAWAYS</a:t>
            </a:r>
          </a:p>
        </p:txBody>
      </p:sp>
      <p:sp>
        <p:nvSpPr>
          <p:cNvPr id="4" name="TextBox 3"/>
          <p:cNvSpPr txBox="1"/>
          <p:nvPr/>
        </p:nvSpPr>
        <p:spPr>
          <a:xfrm>
            <a:off x="822960" y="2011680"/>
            <a:ext cx="10515600" cy="4114800"/>
          </a:xfrm>
          <a:prstGeom prst="rect">
            <a:avLst/>
          </a:prstGeom>
          <a:noFill/>
        </p:spPr>
        <p:txBody>
          <a:bodyPr wrap="square" lIns="0" rIns="0" tIns="0" bIns="0">
            <a:spAutoFit/>
          </a:bodyPr>
          <a:lstStyle/>
          <a:p>
            <a:pPr>
              <a:lnSpc>
                <a:spcPct val="110000"/>
              </a:lnSpc>
              <a:spcAft>
                <a:spcPts val="1200"/>
              </a:spcAft>
            </a:pPr>
            <a:r>
              <a:rPr sz="1800" b="1" i="0">
                <a:solidFill>
                  <a:srgbClr val="C9A14A"/>
                </a:solidFill>
                <a:latin typeface="Calibri"/>
              </a:rPr>
              <a:t>•  </a:t>
            </a:r>
            <a:r>
              <a:rPr sz="1800" b="0" i="0">
                <a:solidFill>
                  <a:srgbClr val="FFFFFF"/>
                </a:solidFill>
                <a:latin typeface="Calibri"/>
              </a:rPr>
              <a:t>Structure determines function: anatomy is the vocabulary, physiology is what it does.</a:t>
            </a:r>
          </a:p>
          <a:p>
            <a:pPr>
              <a:lnSpc>
                <a:spcPct val="110000"/>
              </a:lnSpc>
              <a:spcAft>
                <a:spcPts val="1200"/>
              </a:spcAft>
            </a:pPr>
            <a:r>
              <a:rPr sz="1800" b="1" i="0">
                <a:solidFill>
                  <a:srgbClr val="C9A14A"/>
                </a:solidFill>
                <a:latin typeface="Calibri"/>
              </a:rPr>
              <a:t>•  </a:t>
            </a:r>
            <a:r>
              <a:rPr sz="1800" b="0" i="0">
                <a:solidFill>
                  <a:srgbClr val="FFFFFF"/>
                </a:solidFill>
                <a:latin typeface="Calibri"/>
              </a:rPr>
              <a:t>Anatomical position is the fixed reference; planes cut the body; directional terms come in pairs.</a:t>
            </a:r>
          </a:p>
          <a:p>
            <a:pPr>
              <a:lnSpc>
                <a:spcPct val="110000"/>
              </a:lnSpc>
              <a:spcAft>
                <a:spcPts val="1200"/>
              </a:spcAft>
            </a:pPr>
            <a:r>
              <a:rPr sz="1800" b="1" i="0">
                <a:solidFill>
                  <a:srgbClr val="C9A14A"/>
                </a:solidFill>
                <a:latin typeface="Calibri"/>
              </a:rPr>
              <a:t>•  </a:t>
            </a:r>
            <a:r>
              <a:rPr sz="1800" b="0" i="0">
                <a:solidFill>
                  <a:srgbClr val="FFFFFF"/>
                </a:solidFill>
                <a:latin typeface="Calibri"/>
              </a:rPr>
              <a:t>Sort regional terms as axial (head, neck, trunk) or appendicular (limbs).</a:t>
            </a:r>
          </a:p>
          <a:p>
            <a:pPr>
              <a:lnSpc>
                <a:spcPct val="110000"/>
              </a:lnSpc>
              <a:spcAft>
                <a:spcPts val="1200"/>
              </a:spcAft>
            </a:pPr>
            <a:r>
              <a:rPr sz="1800" b="1" i="0">
                <a:solidFill>
                  <a:srgbClr val="C9A14A"/>
                </a:solidFill>
                <a:latin typeface="Calibri"/>
              </a:rPr>
              <a:t>•  </a:t>
            </a:r>
            <a:r>
              <a:rPr sz="1800" b="0" i="0">
                <a:solidFill>
                  <a:srgbClr val="FFFFFF"/>
                </a:solidFill>
                <a:latin typeface="Calibri"/>
              </a:rPr>
              <a:t>Cavities and quadrants localize organs; mediastinum is central, retroperitoneum is behind the peritoneum.</a:t>
            </a:r>
          </a:p>
          <a:p>
            <a:pPr>
              <a:lnSpc>
                <a:spcPct val="110000"/>
              </a:lnSpc>
              <a:spcAft>
                <a:spcPts val="1200"/>
              </a:spcAft>
            </a:pPr>
            <a:r>
              <a:rPr sz="1800" b="1" i="0">
                <a:solidFill>
                  <a:srgbClr val="C9A14A"/>
                </a:solidFill>
                <a:latin typeface="Calibri"/>
              </a:rPr>
              <a:t>•  </a:t>
            </a:r>
            <a:r>
              <a:rPr sz="1800" b="0" i="0">
                <a:solidFill>
                  <a:srgbClr val="FFFFFF"/>
                </a:solidFill>
                <a:latin typeface="Calibri"/>
              </a:rPr>
              <a:t>Serous membranes (pleura, pericardium, peritoneum) each have a parietal and visceral layer with fluid between.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Foundations: The Language of Anatomy and Body Organization (Anatomy Section)</dc:title>
  <dc:subject>Anatomy section: Foundations</dc:subject>
  <dc:creator>Dr. Sharilyn Rennie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