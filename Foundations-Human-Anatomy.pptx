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286000"/>
            <a:ext cx="10515600" cy="1463040"/>
          </a:xfrm>
        </p:spPr>
        <p:txBody>
          <a:bodyPr wrap="square"/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Foundations: The Language of Anatomy and Body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9A14A"/>
                </a:solidFill>
                <a:latin typeface="Calibri"/>
              </a:rPr>
              <a:t>FOCUS: HUMAN 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E6EAF0"/>
                </a:solidFill>
                <a:latin typeface="Calibri"/>
              </a:rPr>
              <a:t>The anatomy portion of the course. In a combined class, this pairs with the physiology unit.  Dr. Sharilyn Rennie</a:t>
            </a:r>
          </a:p>
        </p:txBody>
      </p:sp>
      <p:pic>
        <p:nvPicPr>
          <p:cNvPr id="5" name="Picture 4" descr="Human Anatomy logo: three stylized figur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1337" y="411480"/>
            <a:ext cx="849085" cy="10058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286000"/>
            <a:ext cx="10515600" cy="1463040"/>
          </a:xfrm>
        </p:spPr>
        <p:txBody>
          <a:bodyPr wrap="square"/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Definitions and 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9A14A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E6EAF0"/>
                </a:solidFill>
                <a:latin typeface="Calibri"/>
              </a:rPr>
              <a:t>Anatomy gives us the words; physiology is what those structures do. Change the structure and you change the function.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How an anatomist thinks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000" b="1" i="0">
                <a:solidFill>
                  <a:srgbClr val="8B3A2E"/>
                </a:solidFill>
                <a:latin typeface="Calibri"/>
              </a:rPr>
              <a:t>Anatomy </a:t>
            </a:r>
            <a:r>
              <a:rPr sz="2000" b="0" i="0">
                <a:solidFill>
                  <a:srgbClr val="0B1530"/>
                </a:solidFill>
                <a:latin typeface="Calibri"/>
              </a:rPr>
              <a:t>is the study of structure: what a part is, where it sits, and what it connects to.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000" b="1" i="0">
                <a:solidFill>
                  <a:srgbClr val="8B3A2E"/>
                </a:solidFill>
                <a:latin typeface="Calibri"/>
              </a:rPr>
              <a:t>Physiology </a:t>
            </a:r>
            <a:r>
              <a:rPr sz="2000" b="0" i="0">
                <a:solidFill>
                  <a:srgbClr val="0B1530"/>
                </a:solidFill>
                <a:latin typeface="Calibri"/>
              </a:rPr>
              <a:t>is the study of function: what that structure does and how it works.</a:t>
            </a:r>
          </a:p>
          <a:p>
            <a:pPr>
              <a:lnSpc>
                <a:spcPct val="105000"/>
              </a:lnSpc>
              <a:spcAft>
                <a:spcPts val="1400"/>
              </a:spcAft>
            </a:pPr>
            <a:r>
              <a:rPr sz="2000" b="1" i="0">
                <a:solidFill>
                  <a:srgbClr val="8B3A2E"/>
                </a:solidFill>
                <a:latin typeface="Calibri"/>
              </a:rPr>
              <a:t>Core idea: </a:t>
            </a:r>
            <a:r>
              <a:rPr sz="2000" b="0" i="0">
                <a:solidFill>
                  <a:srgbClr val="0B1530"/>
                </a:solidFill>
                <a:latin typeface="Calibri"/>
              </a:rPr>
              <a:t>structure determines function. When anatomy changes, physiology changes with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From structure to the clinic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Disease: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a defined process with a known mechanism.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Disorder: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a disruption of normal function; mechanism not always single or known.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Sign: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objective, measurable by someone else (fever, swelling, a lab value).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Symptom: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subjective, reported by the patient (pain, nausea, fatigue).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Exam findings: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what the clinician sees, feels, or hears.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Labs and imaging: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structure and function measured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Levels of structural organization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pic>
        <p:nvPicPr>
          <p:cNvPr id="4" name="Picture 3" descr="Flow chart of the six levels of structural organization from chemical to cellular, tissue, organ, organ-system, and organisma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706499"/>
            <a:ext cx="5943600" cy="47251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286000"/>
            <a:ext cx="10515600" cy="1463040"/>
          </a:xfrm>
        </p:spPr>
        <p:txBody>
          <a:bodyPr wrap="square"/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Body Regions, Position, and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9A14A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E6EAF0"/>
                </a:solidFill>
                <a:latin typeface="Calibri"/>
              </a:rPr>
              <a:t>One agreed starting position, one set of planes, and paired directional terms let any two people describe the same spot the same way.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Anatomical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 i="0">
                <a:solidFill>
                  <a:srgbClr val="8B3A2E"/>
                </a:solidFill>
                <a:latin typeface="Calibri"/>
              </a:rPr>
              <a:t>Anatomical position: </a:t>
            </a:r>
            <a:r>
              <a:rPr sz="1800" b="0" i="0">
                <a:solidFill>
                  <a:srgbClr val="0B1530"/>
                </a:solidFill>
                <a:latin typeface="Calibri"/>
              </a:rPr>
              <a:t>body erect, feet flat and slightly apart, head and eyes forward, arms at the sides, palms forward.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 i="0">
                <a:solidFill>
                  <a:srgbClr val="8B3A2E"/>
                </a:solidFill>
                <a:latin typeface="Calibri"/>
              </a:rPr>
              <a:t>Why it matters: </a:t>
            </a:r>
            <a:r>
              <a:rPr sz="1800" b="0" i="0">
                <a:solidFill>
                  <a:srgbClr val="0B1530"/>
                </a:solidFill>
                <a:latin typeface="Calibri"/>
              </a:rPr>
              <a:t>every directional term assumes this position.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 i="0">
                <a:solidFill>
                  <a:srgbClr val="8B3A2E"/>
                </a:solidFill>
                <a:latin typeface="Calibri"/>
              </a:rPr>
              <a:t>Supine: </a:t>
            </a:r>
            <a:r>
              <a:rPr sz="1800" b="0" i="0">
                <a:solidFill>
                  <a:srgbClr val="0B1530"/>
                </a:solidFill>
                <a:latin typeface="Calibri"/>
              </a:rPr>
              <a:t>lying face up.  Prone: lying face down.</a:t>
            </a:r>
          </a:p>
        </p:txBody>
      </p:sp>
      <p:pic>
        <p:nvPicPr>
          <p:cNvPr id="5" name="Picture 4" descr="A person standing in anatomical position: upright, feet slightly apart, arms at the sides with palms facing forwar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Body planes and sections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Sagittal: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right and left parts; midsagittal gives equal halves.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Frontal (coronal):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anterior and posterior parts.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Transverse (horizontal):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superior and inferior parts.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Oblique: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any angle other than 90 degrees.</a:t>
            </a:r>
          </a:p>
        </p:txBody>
      </p:sp>
      <p:pic>
        <p:nvPicPr>
          <p:cNvPr id="5" name="Picture 4" descr="Diagram of a standing body with the midsagittal, parasagittal, frontal (coronal), transverse, and oblique planes label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Directional terms come 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Superior / Inferior: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above versus below.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Anterior (ventral) / Posterior (dorsal):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front versus back.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Medial / Lateral: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toward versus away from the midline.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Proximal / Distal: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nearer versus farther from the trunk.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Superficial / Deep: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toward versus away from the surface.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Ipsilateral / Contralateral: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same versus opposite side.</a:t>
            </a:r>
          </a:p>
        </p:txBody>
      </p:sp>
      <p:pic>
        <p:nvPicPr>
          <p:cNvPr id="5" name="Picture 4" descr="Diagram of the body showing the anatomical planes and the paired directional term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Regional terms: anterior and posterior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pic>
        <p:nvPicPr>
          <p:cNvPr id="4" name="Picture 3" descr="Anterior view of the body with regional terms labeled: frontal, orbital, nasal, oral, buccal, cervical, thoracic, sternal, abdominal, umbilical, brachial, antecubital, carpal, femoral, patellar, crural, tarsa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516063"/>
            <a:ext cx="5852160" cy="3288914"/>
          </a:xfrm>
          <a:prstGeom prst="rect">
            <a:avLst/>
          </a:prstGeom>
        </p:spPr>
      </p:pic>
      <p:pic>
        <p:nvPicPr>
          <p:cNvPr id="5" name="Picture 4" descr="Posterior view with regional terms labeled: occipital, cervical, scapular, vertebral, lumbar, sacral, gluteal, femoral, popliteal, sural, calcaneal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516063"/>
            <a:ext cx="5852160" cy="32889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Sorting regions: axial vs appendicular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 i="0">
                <a:solidFill>
                  <a:srgbClr val="8B3A2E"/>
                </a:solidFill>
                <a:latin typeface="Calibri"/>
              </a:rPr>
              <a:t>Axial </a:t>
            </a:r>
            <a:r>
              <a:rPr sz="1800" b="0" i="0">
                <a:solidFill>
                  <a:srgbClr val="0B1530"/>
                </a:solidFill>
                <a:latin typeface="Calibri"/>
              </a:rPr>
              <a:t>(head, neck, trunk): cephalic, cervical, thoracic, sternal, abdominal, umbilical, vertebral, lumbar, sacral, gluteal.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 i="0">
                <a:solidFill>
                  <a:srgbClr val="8B3A2E"/>
                </a:solidFill>
                <a:latin typeface="Calibri"/>
              </a:rPr>
              <a:t>Appendicular </a:t>
            </a:r>
            <a:r>
              <a:rPr sz="1800" b="0" i="0">
                <a:solidFill>
                  <a:srgbClr val="0B1530"/>
                </a:solidFill>
                <a:latin typeface="Calibri"/>
              </a:rPr>
              <a:t>(limbs): acromial, brachial, antecubital, antebrachial, carpal, digital, coxal, femoral, patellar, crural, sural, tarsal.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 i="0">
                <a:solidFill>
                  <a:srgbClr val="8B3A2E"/>
                </a:solidFill>
                <a:latin typeface="Calibri"/>
              </a:rPr>
              <a:t>Sort </a:t>
            </a:r>
            <a:r>
              <a:rPr sz="1800" b="0" i="0">
                <a:solidFill>
                  <a:srgbClr val="0B1530"/>
                </a:solidFill>
                <a:latin typeface="Calibri"/>
              </a:rPr>
              <a:t>every regional term into one of these two buckets.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286000"/>
            <a:ext cx="10515600" cy="1463040"/>
          </a:xfrm>
        </p:spPr>
        <p:txBody>
          <a:bodyPr wrap="square"/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Body Cavities and Abdominopelvic Quadrants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9A14A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E6EAF0"/>
                </a:solidFill>
                <a:latin typeface="Calibri"/>
              </a:rPr>
              <a:t>The organs live inside enclosed spaces. Name the space and you have narrowed down what can go wrong there.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The body cavities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Dorsal body cavity: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cranial cavity (brain) and vertebral cavity (spinal cord).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Ventral body cavity: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thoracic and abdominopelvic cavities, split by the diaphragm.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Thorax: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two pleural cavities plus the mediastinum; pericardial cavity (heart) within it.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Abdominopelvic: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abdominal cavity (digestive viscera) and pelvic cavity (bladder, reproductive, rectum).</a:t>
            </a:r>
          </a:p>
        </p:txBody>
      </p:sp>
      <p:pic>
        <p:nvPicPr>
          <p:cNvPr id="5" name="Picture 4" descr="Organization chart of the body cavities: dorsal (cranial, vertebral) and ventral (thoracic with pleural cavities and mediastinum; abdominopelvic with abdominal and pelvic cavities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424077"/>
            <a:ext cx="6446520" cy="54271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Abdominopelvic quadrants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Four quadrants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through the navel: RUQ, LUQ, RLQ, LLQ. Where it hurts points to the organs there.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RUQ: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liver, gallbladder, right kidney, head of pancreas.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LUQ: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stomach, spleen, left kidney, tail of pancreas.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RLQ: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appendix, cecum, right ovary and ureter.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LLQ: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sigmoid and descending colon, left ovary and ureter.</a:t>
            </a:r>
          </a:p>
        </p:txBody>
      </p:sp>
      <p:pic>
        <p:nvPicPr>
          <p:cNvPr id="5" name="Picture 4" descr="Anterior view of the abdomen divided into four quadrants: RUQ, LUQ, RLQ, LLQ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Abdominopelvic regions (nine)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Top row: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right hypochondriac, epigastric, left hypochondriac.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Middle row: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right lumbar, umbilical, left lumbar.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Bottom row: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right iliac (inguinal), hypogastric (pubic), left iliac (inguinal).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600" b="1" i="0">
                <a:solidFill>
                  <a:srgbClr val="8B3A2E"/>
                </a:solidFill>
                <a:latin typeface="Calibri"/>
              </a:rPr>
              <a:t>Use </a:t>
            </a:r>
            <a:r>
              <a:rPr sz="1600" b="0" i="0">
                <a:solidFill>
                  <a:srgbClr val="0B1530"/>
                </a:solidFill>
                <a:latin typeface="Calibri"/>
              </a:rPr>
              <a:t>when you need to localize more tightly than a quadrant.</a:t>
            </a:r>
          </a:p>
        </p:txBody>
      </p:sp>
      <p:pic>
        <p:nvPicPr>
          <p:cNvPr id="5" name="Picture 4" descr="Anterior view of the abdomen divided into nine regions: right and left hypochondriac, epigastric, right and left lumbar, umbilical, right and left iliac, and hypogastric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286000"/>
            <a:ext cx="10515600" cy="1463040"/>
          </a:xfrm>
        </p:spPr>
        <p:txBody>
          <a:bodyPr wrap="square"/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The Mediastinum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9A14A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E6EAF0"/>
                </a:solidFill>
                <a:latin typeface="Calibri"/>
              </a:rPr>
              <a:t>The central compartment of the thorax, between the two lungs.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Borders and contents of the mediastinum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Superior: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the thoracic inlet, at the level of the first rib.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Inferior: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the diaphragm.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Anterior: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the sternum.  Posterior: the vertebral column.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Lateral: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the mediastinal pleura, a lung on each side.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Contents: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heart (in its pericardium), great vessels, trachea, esophagus, thymus, phrenic and vagus nerves, thoracic duct, lymph nodes.</a:t>
            </a:r>
          </a:p>
        </p:txBody>
      </p:sp>
      <p:pic>
        <p:nvPicPr>
          <p:cNvPr id="5" name="Picture 4" descr="Cadaver dissection of the thorax with the mediastinum highlighted, the central compartment between the lungs holding the heart and great vessels. Adapted from BlueLink Anatomy, University of Michiga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286000"/>
            <a:ext cx="10515600" cy="1463040"/>
          </a:xfrm>
        </p:spPr>
        <p:txBody>
          <a:bodyPr wrap="square"/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The Retroperitoneum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9A14A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E6EAF0"/>
                </a:solidFill>
                <a:latin typeface="Calibri"/>
              </a:rPr>
              <a:t>Some organs sit behind the lining of the abdominal cavity rather than inside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Behind the peritoneum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Definition: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the space behind the parietal peritoneum, against the posterior wall.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Intraperitoneal: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organs wrapped in peritoneum inside the cavity (stomach, most small intestine, liver, spleen).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Retroperitoneal: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organs behind it, covered by peritoneum only in front.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500" b="1" i="0">
                <a:solidFill>
                  <a:srgbClr val="8B3A2E"/>
                </a:solidFill>
                <a:latin typeface="Calibri"/>
              </a:rPr>
              <a:t>SAD PUCKER: </a:t>
            </a:r>
            <a:r>
              <a:rPr sz="1500" b="0" i="0">
                <a:solidFill>
                  <a:srgbClr val="0B1530"/>
                </a:solidFill>
                <a:latin typeface="Calibri"/>
              </a:rPr>
              <a:t>Suprarenal, Aorta/IVC, Duodenum, Pancreas, Ureters, Colon (asc/desc), Kidneys, Esophagus, Rectum.</a:t>
            </a:r>
          </a:p>
        </p:txBody>
      </p:sp>
      <p:pic>
        <p:nvPicPr>
          <p:cNvPr id="5" name="Picture 4" descr="Cross-section of the abdomen showing the peritoneal cavity with an intraperitoneal organ in front and retroperitoneal organs (SAD PUCKER) behind it against the posterior wal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43801"/>
            <a:ext cx="6446520" cy="463343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286000"/>
            <a:ext cx="10515600" cy="1463040"/>
          </a:xfrm>
        </p:spPr>
        <p:txBody>
          <a:bodyPr wrap="square"/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Membranes: Mucous and Serous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9A14A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E6EAF0"/>
                </a:solidFill>
                <a:latin typeface="Calibri"/>
              </a:rPr>
              <a:t>Serous membranes wrap the heart, lungs, and abdominal organs.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Two membrane types to separate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Mucous membranes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line cavities open to the outside; they secrete mucus.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Serous membranes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line closed cavities and cover the organs; they secrete serous fluid.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Two layers: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parietal (lines the wall) and visceral (covers the organ), with a fluid-filled serous cavity between.</a:t>
            </a:r>
          </a:p>
        </p:txBody>
      </p:sp>
      <p:pic>
        <p:nvPicPr>
          <p:cNvPr id="5" name="Picture 4" descr="Schematic of a serous membrane: an organ wrapped by the visceral layer, a serous cavity with fluid, and the outer parietal layer lining the cavity wall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83697"/>
            <a:ext cx="6446520" cy="35536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Pleura: around the lungs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Parietal pleura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lines the thoracic wall; visceral pleura covers the lung.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Between them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is the pleural cavity with pleural fluid.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Inflammation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is pleuritis; air in the cavity is a pneumothorax.</a:t>
            </a:r>
          </a:p>
        </p:txBody>
      </p:sp>
      <p:pic>
        <p:nvPicPr>
          <p:cNvPr id="5" name="Picture 4" descr="Cross-section of the thorax: lungs wrapped by visceral pleura, parietal pleura lining the wall, and the pleural cavity with fluid between them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Pericardium: around the heart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Parietal pericardium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lines the fibrous sac; visceral pericardium (epicardium) covers the heart.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Between them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is the pericardial cavity with pericardial fluid.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Fluid build-up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can compress the heart: cardiac tamponade.</a:t>
            </a:r>
          </a:p>
        </p:txBody>
      </p:sp>
      <p:pic>
        <p:nvPicPr>
          <p:cNvPr id="5" name="Picture 4" descr="The heart with visceral pericardium on its surface, parietal pericardium forming the outer sac, and the pericardial cavity with fluid between the layer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Peritoneum: around the abdominal organs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Parietal peritoneum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lines the abdominal wall; visceral peritoneum covers the organs.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Between them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is the peritoneal cavity with peritoneal fluid.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700" b="1" i="0">
                <a:solidFill>
                  <a:srgbClr val="8B3A2E"/>
                </a:solidFill>
                <a:latin typeface="Calibri"/>
              </a:rPr>
              <a:t>Inflammation </a:t>
            </a:r>
            <a:r>
              <a:rPr sz="1700" b="0" i="0">
                <a:solidFill>
                  <a:srgbClr val="0B1530"/>
                </a:solidFill>
                <a:latin typeface="Calibri"/>
              </a:rPr>
              <a:t>is peritonitis; retroperitoneal organs sit behind this cavity.</a:t>
            </a:r>
          </a:p>
        </p:txBody>
      </p:sp>
      <p:pic>
        <p:nvPicPr>
          <p:cNvPr id="5" name="Picture 4" descr="Sagittal section of the abdomen: organs covered by visceral peritoneum, parietal peritoneum lining the wall, and the peritoneal cavity with fluid between the layer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286000"/>
            <a:ext cx="10515600" cy="1463040"/>
          </a:xfrm>
        </p:spPr>
        <p:txBody>
          <a:bodyPr wrap="square"/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Problem Solving with the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9A14A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 i="0">
                <a:solidFill>
                  <a:srgbClr val="E6EAF0"/>
                </a:solidFill>
                <a:latin typeface="Calibri"/>
              </a:rPr>
              <a:t>Locate, predict, and interpret, the same skills a clinician uses every day.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Recall: name it (DOK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DOK 1 · RECALL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2000" b="1" i="0">
                <a:solidFill>
                  <a:srgbClr val="8B3A2E"/>
                </a:solidFill>
                <a:latin typeface="Calibri"/>
              </a:rPr>
              <a:t>Recall </a:t>
            </a:r>
            <a:r>
              <a:rPr sz="2000" b="0" i="0">
                <a:solidFill>
                  <a:srgbClr val="0B1530"/>
                </a:solidFill>
                <a:latin typeface="Calibri"/>
              </a:rPr>
              <a:t>asks you to state a fact or term directly.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2000" b="1" i="0">
                <a:solidFill>
                  <a:srgbClr val="8B3A2E"/>
                </a:solidFill>
                <a:latin typeface="Calibri"/>
              </a:rPr>
              <a:t>Q. </a:t>
            </a:r>
            <a:r>
              <a:rPr sz="2000" b="0" i="0">
                <a:solidFill>
                  <a:srgbClr val="0B1530"/>
                </a:solidFill>
                <a:latin typeface="Calibri"/>
              </a:rPr>
              <a:t>The wrist is ______ to the elbow.  (Proximal / Distal / Superficial)</a:t>
            </a:r>
          </a:p>
          <a:p>
            <a:pPr>
              <a:lnSpc>
                <a:spcPct val="105000"/>
              </a:lnSpc>
              <a:spcAft>
                <a:spcPts val="1800"/>
              </a:spcAft>
            </a:pPr>
            <a:r>
              <a:rPr sz="2000" b="1" i="0">
                <a:solidFill>
                  <a:srgbClr val="8B3A2E"/>
                </a:solidFill>
                <a:latin typeface="Calibri"/>
              </a:rPr>
              <a:t>Answer: </a:t>
            </a:r>
            <a:r>
              <a:rPr sz="2000" b="0" i="0">
                <a:solidFill>
                  <a:srgbClr val="0B1530"/>
                </a:solidFill>
                <a:latin typeface="Calibri"/>
              </a:rPr>
              <a:t>Distal, farther from the trunk than the elbow.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Apply: use the concept (DOK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DOK 2 · SKILL /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900" b="1" i="0">
                <a:solidFill>
                  <a:srgbClr val="8B3A2E"/>
                </a:solidFill>
                <a:latin typeface="Calibri"/>
              </a:rPr>
              <a:t>Apply </a:t>
            </a:r>
            <a:r>
              <a:rPr sz="1900" b="0" i="0">
                <a:solidFill>
                  <a:srgbClr val="0B1530"/>
                </a:solidFill>
                <a:latin typeface="Calibri"/>
              </a:rPr>
              <a:t>asks you to use a concept or classify, not just recall.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900" b="1" i="0">
                <a:solidFill>
                  <a:srgbClr val="8B3A2E"/>
                </a:solidFill>
                <a:latin typeface="Calibri"/>
              </a:rPr>
              <a:t>Q. </a:t>
            </a:r>
            <a:r>
              <a:rPr sz="1900" b="0" i="0">
                <a:solidFill>
                  <a:srgbClr val="0B1530"/>
                </a:solidFill>
                <a:latin typeface="Calibri"/>
              </a:rPr>
              <a:t>Right-lower-quadrant tenderness most directly raises which organ?  (Gallbladder / Appendix / Spleen)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900" b="1" i="0">
                <a:solidFill>
                  <a:srgbClr val="8B3A2E"/>
                </a:solidFill>
                <a:latin typeface="Calibri"/>
              </a:rPr>
              <a:t>Answer: </a:t>
            </a:r>
            <a:r>
              <a:rPr sz="1900" b="0" i="0">
                <a:solidFill>
                  <a:srgbClr val="0B1530"/>
                </a:solidFill>
                <a:latin typeface="Calibri"/>
              </a:rPr>
              <a:t>Appendix, which sits in the RLQ.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Reason: put it together (DOK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DOK 3 · STRATEGIC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1097280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 i="0">
                <a:solidFill>
                  <a:srgbClr val="8B3A2E"/>
                </a:solidFill>
                <a:latin typeface="Calibri"/>
              </a:rPr>
              <a:t>Reason </a:t>
            </a:r>
            <a:r>
              <a:rPr sz="1800" b="0" i="0">
                <a:solidFill>
                  <a:srgbClr val="0B1530"/>
                </a:solidFill>
                <a:latin typeface="Calibri"/>
              </a:rPr>
              <a:t>asks you to connect several ideas and justify.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 i="0">
                <a:solidFill>
                  <a:srgbClr val="8B3A2E"/>
                </a:solidFill>
                <a:latin typeface="Calibri"/>
              </a:rPr>
              <a:t>Q. </a:t>
            </a:r>
            <a:r>
              <a:rPr sz="1800" b="0" i="0">
                <a:solidFill>
                  <a:srgbClr val="0B1530"/>
                </a:solidFill>
                <a:latin typeface="Calibri"/>
              </a:rPr>
              <a:t>A note reads: free fluid in the pleural cavity, right side. Between which structures is it, and what is it called?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1" i="0">
                <a:solidFill>
                  <a:srgbClr val="8B3A2E"/>
                </a:solidFill>
                <a:latin typeface="Calibri"/>
              </a:rPr>
              <a:t>Answer: </a:t>
            </a:r>
            <a:r>
              <a:rPr sz="1800" b="0" i="0">
                <a:solidFill>
                  <a:srgbClr val="0B1530"/>
                </a:solidFill>
                <a:latin typeface="Calibri"/>
              </a:rPr>
              <a:t>Between the parietal and visceral pleura, around the right lung, a pleural effusion.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13232"/>
            <a:ext cx="10972800" cy="822960"/>
          </a:xfrm>
        </p:spPr>
        <p:txBody>
          <a:bodyPr/>
          <a:lstStyle/>
          <a:p>
            <a:r>
              <a:rPr sz="2900" b="1" i="0">
                <a:solidFill>
                  <a:srgbClr val="0B1530"/>
                </a:solidFill>
                <a:latin typeface="Calibri"/>
              </a:rPr>
              <a:t>Label it from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 i="0">
                <a:solidFill>
                  <a:srgbClr val="8B3A2E"/>
                </a:solidFill>
                <a:latin typeface="Calibri"/>
              </a:rPr>
              <a:t>FOCUS: HUMAN ANATOMY · FOUNDATIONS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4526280" cy="4800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0" i="0">
                <a:solidFill>
                  <a:srgbClr val="0B1530"/>
                </a:solidFill>
                <a:latin typeface="Calibri"/>
              </a:rPr>
              <a:t>Cover the labeled slide. Name every arrow on this blank diagram.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0" i="0">
                <a:solidFill>
                  <a:srgbClr val="0B1530"/>
                </a:solidFill>
                <a:latin typeface="Calibri"/>
              </a:rPr>
              <a:t>Then sort each region as axial or appendicular.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800" b="0" i="0">
                <a:solidFill>
                  <a:srgbClr val="0B1530"/>
                </a:solidFill>
                <a:latin typeface="Calibri"/>
              </a:rPr>
              <a:t>Draw the four planes through the figure and say what each divides.</a:t>
            </a:r>
          </a:p>
        </p:txBody>
      </p:sp>
      <p:pic>
        <p:nvPicPr>
          <p:cNvPr id="5" name="Picture 4" descr="Blank anterior view of the body with unlabeled arrows pointing to regions, for the student to fill 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49047"/>
            <a:ext cx="6446520" cy="362294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5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1051560"/>
            <a:ext cx="10515600" cy="731520"/>
          </a:xfrm>
        </p:spPr>
        <p:txBody>
          <a:bodyPr/>
          <a:lstStyle/>
          <a:p>
            <a:r>
              <a:rPr sz="3000" b="1" i="0">
                <a:solidFill>
                  <a:srgbClr val="FFFFFF"/>
                </a:solidFill>
                <a:latin typeface="Calibri"/>
              </a:rPr>
              <a:t>Foundations in five 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9A14A"/>
                </a:solidFill>
                <a:latin typeface="Calibri"/>
              </a:rP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800" b="1" i="0">
                <a:solidFill>
                  <a:srgbClr val="C9A14A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Structure determines function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; anatomy is the vocabulary, physiology is what it does.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800" b="1" i="0">
                <a:solidFill>
                  <a:srgbClr val="C9A14A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Anatomical position is the fixed reference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; planes cut the body; directional terms come in pairs.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800" b="1" i="0">
                <a:solidFill>
                  <a:srgbClr val="C9A14A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Sort regional terms as axial or appendicular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800" b="1" i="0">
                <a:solidFill>
                  <a:srgbClr val="C9A14A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Cavities and quadrants localize organs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; mediastinum central, retroperitoneum behind the peritoneum.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800" b="1" i="0">
                <a:solidFill>
                  <a:srgbClr val="C9A14A"/>
                </a:solidFill>
                <a:latin typeface="Calibri"/>
              </a:rPr>
              <a:t>•  </a:t>
            </a:r>
            <a:r>
              <a:rPr sz="1800" b="1" i="0">
                <a:solidFill>
                  <a:srgbClr val="FFFFFF"/>
                </a:solidFill>
                <a:latin typeface="Calibri"/>
              </a:rPr>
              <a:t>Serous membranes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each have a parietal and visceral layer with fluid between.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Foundations: The Language of Anatomy and Body Organization (Anatomy Section)</dc:title>
  <dc:subject>Anatomy section: Foundations</dc:subject>
  <dc:creator>Dr. Sharilyn Rennie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