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9" r:id="rId15"/>
    <p:sldId id="270" r:id="rId16"/>
    <p:sldId id="268" r:id="rId17"/>
    <p:sldId id="271" r:id="rId18"/>
    <p:sldId id="272" r:id="rId19"/>
    <p:sldId id="273" r:id="rId20"/>
    <p:sldId id="280" r:id="rId21"/>
    <p:sldId id="275" r:id="rId22"/>
    <p:sldId id="281" r:id="rId23"/>
    <p:sldId id="276" r:id="rId24"/>
    <p:sldId id="282" r:id="rId25"/>
    <p:sldId id="277" r:id="rId26"/>
    <p:sldId id="283" r:id="rId27"/>
    <p:sldId id="278" r:id="rId28"/>
    <p:sldId id="284" r:id="rId29"/>
    <p:sldId id="279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23C74-AA53-0F4C-9C50-34C6D082C12F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4E9AF-3DED-5441-B0FB-40AFF2201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93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E242854-9B02-4C75-A618-8C6FAF561BB1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46EC32C-D744-4861-BAC2-208858F6BFD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1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Chapter Outline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histology?</a:t>
            </a:r>
          </a:p>
          <a:p>
            <a:r>
              <a:rPr lang="en-US" dirty="0" smtClean="0"/>
              <a:t>Why study histology?</a:t>
            </a:r>
          </a:p>
          <a:p>
            <a:r>
              <a:rPr lang="en-US" dirty="0" smtClean="0"/>
              <a:t>Histological techniques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Microscopy</a:t>
            </a:r>
          </a:p>
          <a:p>
            <a:r>
              <a:rPr lang="en-US" dirty="0" smtClean="0"/>
              <a:t>Histological techniques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Specimen preparation</a:t>
            </a:r>
          </a:p>
          <a:p>
            <a:r>
              <a:rPr lang="en-US" dirty="0" smtClean="0"/>
              <a:t>Strategies for studying histology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84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What is histology?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Histology is the study of tissues</a:t>
            </a:r>
          </a:p>
          <a:p>
            <a:pPr lvl="1"/>
            <a:r>
              <a:rPr lang="en-US" i="1" dirty="0" err="1" smtClean="0"/>
              <a:t>Histos</a:t>
            </a:r>
            <a:r>
              <a:rPr lang="en-US" dirty="0" smtClean="0"/>
              <a:t> = tissue; </a:t>
            </a:r>
            <a:r>
              <a:rPr lang="en-US" i="1" dirty="0" smtClean="0"/>
              <a:t>logos</a:t>
            </a:r>
            <a:r>
              <a:rPr lang="en-US" dirty="0" smtClean="0"/>
              <a:t> = treatise</a:t>
            </a:r>
          </a:p>
          <a:p>
            <a:pPr lvl="1"/>
            <a:r>
              <a:rPr lang="en-US" dirty="0" smtClean="0"/>
              <a:t>Tissues = collections of cells with similar structure and function</a:t>
            </a:r>
          </a:p>
          <a:p>
            <a:r>
              <a:rPr lang="en-US" dirty="0" smtClean="0"/>
              <a:t>Four major tissue types in adults</a:t>
            </a:r>
          </a:p>
          <a:p>
            <a:pPr lvl="1"/>
            <a:r>
              <a:rPr lang="en-US" dirty="0" smtClean="0"/>
              <a:t>Epithelial tissue</a:t>
            </a:r>
          </a:p>
          <a:p>
            <a:pPr lvl="1"/>
            <a:r>
              <a:rPr lang="en-US" dirty="0" smtClean="0"/>
              <a:t>Connective tissue</a:t>
            </a:r>
          </a:p>
          <a:p>
            <a:pPr lvl="1"/>
            <a:r>
              <a:rPr lang="en-US" dirty="0" smtClean="0"/>
              <a:t>Muscle tissue</a:t>
            </a:r>
          </a:p>
          <a:p>
            <a:pPr lvl="1"/>
            <a:r>
              <a:rPr lang="en-US" dirty="0" smtClean="0"/>
              <a:t>Nervous tissue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147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Why study histology?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Histology is the bridge between structure and function</a:t>
            </a:r>
          </a:p>
          <a:p>
            <a:pPr lvl="1"/>
            <a:r>
              <a:rPr lang="en-US" dirty="0" smtClean="0"/>
              <a:t>Studying histology allows you to better understand</a:t>
            </a:r>
          </a:p>
          <a:p>
            <a:pPr lvl="2"/>
            <a:r>
              <a:rPr lang="en-US" dirty="0" smtClean="0"/>
              <a:t>microscopic organization of tissues/organs</a:t>
            </a:r>
          </a:p>
          <a:p>
            <a:pPr lvl="2"/>
            <a:r>
              <a:rPr lang="en-US" dirty="0"/>
              <a:t>o</a:t>
            </a:r>
            <a:r>
              <a:rPr lang="en-US" dirty="0" smtClean="0"/>
              <a:t>rgan function at the smallest levels, working up to the larger anatomical levels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1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0" y="1447799"/>
            <a:ext cx="4443785" cy="441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44158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Histological </a:t>
            </a:r>
            <a:r>
              <a:rPr lang="en-US" sz="4000" dirty="0" smtClean="0"/>
              <a:t>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Microscopy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3657600" cy="57912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 light microscope is used to examine specimens by shining a light through them</a:t>
            </a:r>
          </a:p>
          <a:p>
            <a:r>
              <a:rPr lang="en-US" dirty="0" smtClean="0"/>
              <a:t>Mechanical components include</a:t>
            </a:r>
          </a:p>
          <a:p>
            <a:pPr lvl="1"/>
            <a:r>
              <a:rPr lang="en-US" dirty="0" smtClean="0"/>
              <a:t>Focus adjustments</a:t>
            </a:r>
          </a:p>
          <a:p>
            <a:pPr lvl="1"/>
            <a:r>
              <a:rPr lang="en-US" dirty="0" smtClean="0"/>
              <a:t>Mechanical stage</a:t>
            </a:r>
          </a:p>
          <a:p>
            <a:pPr lvl="1"/>
            <a:r>
              <a:rPr lang="en-US" dirty="0" smtClean="0"/>
              <a:t>Light source</a:t>
            </a:r>
          </a:p>
        </p:txBody>
      </p:sp>
    </p:spTree>
    <p:extLst>
      <p:ext uri="{BB962C8B-B14F-4D97-AF65-F5344CB8AC3E}">
        <p14:creationId xmlns:p14="http://schemas.microsoft.com/office/powerpoint/2010/main" val="4193488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19600" y="1676400"/>
            <a:ext cx="4520402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Histological 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Microscopy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3657600" cy="5715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light microscope is used to examine specimens by shining a light through them</a:t>
            </a:r>
          </a:p>
          <a:p>
            <a:r>
              <a:rPr lang="en-US" dirty="0" smtClean="0"/>
              <a:t>Optical components include</a:t>
            </a:r>
          </a:p>
          <a:p>
            <a:pPr lvl="1"/>
            <a:r>
              <a:rPr lang="en-US" dirty="0" smtClean="0"/>
              <a:t>Condenser</a:t>
            </a:r>
          </a:p>
          <a:p>
            <a:pPr lvl="1"/>
            <a:r>
              <a:rPr lang="en-US" dirty="0" smtClean="0"/>
              <a:t>Objective lenses</a:t>
            </a:r>
          </a:p>
          <a:p>
            <a:pPr lvl="1"/>
            <a:r>
              <a:rPr lang="en-US" dirty="0" smtClean="0"/>
              <a:t>Ocular lenses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481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Histological </a:t>
            </a:r>
            <a:r>
              <a:rPr lang="en-US" sz="4000" dirty="0" smtClean="0"/>
              <a:t>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Microscopy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8001000" cy="2819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How does it work?</a:t>
            </a:r>
          </a:p>
          <a:p>
            <a:pPr lvl="1"/>
            <a:r>
              <a:rPr lang="en-US" dirty="0" smtClean="0"/>
              <a:t>Condenser: concentrates light through the specimen</a:t>
            </a:r>
          </a:p>
          <a:p>
            <a:pPr lvl="1"/>
            <a:r>
              <a:rPr lang="en-US" dirty="0" smtClean="0"/>
              <a:t>Objective lens: bends (refracts) light to produce a magnified image</a:t>
            </a:r>
          </a:p>
          <a:p>
            <a:pPr lvl="1"/>
            <a:r>
              <a:rPr lang="en-US" dirty="0"/>
              <a:t>O</a:t>
            </a:r>
            <a:r>
              <a:rPr lang="en-US" dirty="0" smtClean="0"/>
              <a:t>cular lens: further magnifies image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89720" y="3657600"/>
            <a:ext cx="224888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Fig 1-2b no label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48" y="3657600"/>
            <a:ext cx="4511152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4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Histological </a:t>
            </a:r>
            <a:r>
              <a:rPr lang="en-US" sz="4400" dirty="0" smtClean="0"/>
              <a:t>techniques</a:t>
            </a:r>
            <a:r>
              <a:rPr lang="en-US" sz="4400" dirty="0" smtClean="0">
                <a:latin typeface="Calibri"/>
              </a:rPr>
              <a:t>—</a:t>
            </a:r>
            <a:r>
              <a:rPr lang="en-US" dirty="0" smtClean="0"/>
              <a:t>Microscopy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How does it work?</a:t>
            </a:r>
          </a:p>
          <a:p>
            <a:pPr lvl="1"/>
            <a:r>
              <a:rPr lang="en-US" dirty="0" smtClean="0"/>
              <a:t>Total magnification = product of power of objective and ocular lenses</a:t>
            </a:r>
          </a:p>
          <a:p>
            <a:pPr lvl="2"/>
            <a:r>
              <a:rPr lang="en-US" dirty="0" smtClean="0"/>
              <a:t>Example: 40x objective x 10x ocular = 400x total</a:t>
            </a:r>
          </a:p>
          <a:p>
            <a:pPr lvl="1"/>
            <a:r>
              <a:rPr lang="en-US" dirty="0" smtClean="0"/>
              <a:t>Resolution = ability of a lens to reveal two individual points as being separate</a:t>
            </a:r>
          </a:p>
          <a:p>
            <a:pPr lvl="2"/>
            <a:r>
              <a:rPr lang="en-US" dirty="0" smtClean="0"/>
              <a:t>The closer two points can be, yet still be seen as separate, the better the resolution is overall</a:t>
            </a:r>
          </a:p>
          <a:p>
            <a:pPr lvl="2"/>
            <a:r>
              <a:rPr lang="en-US" dirty="0" smtClean="0"/>
              <a:t>Limit of resolution for most light </a:t>
            </a:r>
            <a:r>
              <a:rPr lang="en-US" dirty="0" err="1" smtClean="0"/>
              <a:t>microscropes</a:t>
            </a:r>
            <a:r>
              <a:rPr lang="en-US" dirty="0" smtClean="0"/>
              <a:t> is about 0.1 µm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87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Histological </a:t>
            </a:r>
            <a:r>
              <a:rPr lang="en-US" sz="4000" dirty="0" smtClean="0"/>
              <a:t>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Microscopy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Electron microscopes</a:t>
            </a:r>
          </a:p>
          <a:p>
            <a:pPr lvl="1"/>
            <a:r>
              <a:rPr lang="en-US" dirty="0" smtClean="0"/>
              <a:t>Use an electron beam instead of light to create an image</a:t>
            </a:r>
          </a:p>
          <a:p>
            <a:pPr lvl="2"/>
            <a:r>
              <a:rPr lang="en-US" dirty="0" smtClean="0"/>
              <a:t>Realistic resolution down to 2 nm</a:t>
            </a:r>
          </a:p>
          <a:p>
            <a:pPr lvl="2"/>
            <a:r>
              <a:rPr lang="en-US" dirty="0" smtClean="0"/>
              <a:t>Maximum magnification of 150,000x</a:t>
            </a:r>
          </a:p>
          <a:p>
            <a:pPr lvl="1"/>
            <a:r>
              <a:rPr lang="en-US" dirty="0" smtClean="0"/>
              <a:t>Two basic types</a:t>
            </a:r>
          </a:p>
          <a:p>
            <a:pPr lvl="2"/>
            <a:r>
              <a:rPr lang="en-US" dirty="0" smtClean="0"/>
              <a:t>Transmission electron microscope (TEM)</a:t>
            </a:r>
          </a:p>
          <a:p>
            <a:pPr lvl="2"/>
            <a:r>
              <a:rPr lang="en-US" dirty="0" smtClean="0"/>
              <a:t>Scanning electron microscope (SEM)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045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7763"/>
            <a:ext cx="8001000" cy="95283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Histological </a:t>
            </a:r>
            <a:r>
              <a:rPr lang="en-US" sz="4000" dirty="0" smtClean="0"/>
              <a:t>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Microscopy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990600"/>
            <a:ext cx="45720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Transmission electron microscopes</a:t>
            </a:r>
          </a:p>
          <a:p>
            <a:pPr lvl="1"/>
            <a:r>
              <a:rPr lang="en-US" dirty="0" smtClean="0"/>
              <a:t>Produce 2D image of an ultrathin section by capturing electrons that have passed through it</a:t>
            </a:r>
          </a:p>
          <a:p>
            <a:pPr lvl="2"/>
            <a:r>
              <a:rPr lang="en-US" dirty="0" smtClean="0"/>
              <a:t>Fluorescent plate used to collect electrons/create image</a:t>
            </a:r>
          </a:p>
          <a:p>
            <a:pPr lvl="1"/>
            <a:r>
              <a:rPr lang="en-US" dirty="0" smtClean="0"/>
              <a:t>Useful for studying a cell’s interior</a:t>
            </a:r>
          </a:p>
          <a:p>
            <a:pPr lvl="2"/>
            <a:r>
              <a:rPr lang="en-US" dirty="0" smtClean="0"/>
              <a:t>Requires heavy metal staining/shadowing</a:t>
            </a:r>
          </a:p>
          <a:p>
            <a:pPr lvl="2"/>
            <a:r>
              <a:rPr lang="en-US" dirty="0" smtClean="0"/>
              <a:t>Can be time-consuming and labor-intensive</a:t>
            </a:r>
            <a:endParaRPr lang="en-US" dirty="0"/>
          </a:p>
        </p:txBody>
      </p:sp>
      <p:pic>
        <p:nvPicPr>
          <p:cNvPr id="4098" name="Picture 2" descr="C:\Users\UCA\Dropbox\LeBoffe_HistoPPTStuff\HistoCh1_Images\Fig 1-3 no labe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90600"/>
            <a:ext cx="2563354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UCA\Dropbox\LeBoffe_HistoPPTStuff\HistoCh1_Images\Fig 1-4 no labe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552805"/>
            <a:ext cx="2840893" cy="330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34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9144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Histological </a:t>
            </a:r>
            <a:r>
              <a:rPr lang="en-US" sz="4000" dirty="0" smtClean="0"/>
              <a:t>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Microscopy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45720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Scanning electron microscopes</a:t>
            </a:r>
          </a:p>
          <a:p>
            <a:pPr lvl="1"/>
            <a:r>
              <a:rPr lang="en-US" dirty="0" smtClean="0"/>
              <a:t>Used to create a 3D image of a specimen’s surface</a:t>
            </a:r>
          </a:p>
          <a:p>
            <a:pPr lvl="1"/>
            <a:r>
              <a:rPr lang="en-US" dirty="0" smtClean="0"/>
              <a:t>Focused beam of electrons is passed over a specimen’s gold-coated surface</a:t>
            </a:r>
          </a:p>
          <a:p>
            <a:pPr lvl="2"/>
            <a:r>
              <a:rPr lang="en-US" dirty="0" smtClean="0"/>
              <a:t>Some electrons are scattered, while others are emitted from the coating</a:t>
            </a:r>
          </a:p>
          <a:p>
            <a:pPr lvl="2"/>
            <a:r>
              <a:rPr lang="en-US" dirty="0" smtClean="0"/>
              <a:t>Collected electrons are used to create a 3D image by computer software</a:t>
            </a:r>
            <a:endParaRPr lang="en-US" dirty="0"/>
          </a:p>
        </p:txBody>
      </p:sp>
      <p:pic>
        <p:nvPicPr>
          <p:cNvPr id="5122" name="Picture 2" descr="C:\Users\UCA\Dropbox\LeBoffe_HistoPPTStuff\HistoCh1_Images\Fig 1-5 no labe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589" y="4663899"/>
            <a:ext cx="3206763" cy="219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UCA\Dropbox\LeBoffe_HistoPPTStuff\HistoCh1_Images\Fig 1-6 no label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983182"/>
            <a:ext cx="2491256" cy="399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425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Histological 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Specimen preparation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Most staining requires a series of steps</a:t>
            </a:r>
          </a:p>
          <a:p>
            <a:pPr lvl="1"/>
            <a:r>
              <a:rPr lang="en-US" dirty="0" smtClean="0"/>
              <a:t>Fixation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preserves the specimen and slows its deterioration</a:t>
            </a:r>
          </a:p>
          <a:p>
            <a:pPr lvl="1"/>
            <a:r>
              <a:rPr lang="en-US" dirty="0" smtClean="0"/>
              <a:t>Dehydration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bathing the specimen in alcohol to remove water (making it easier to stain and preserve long term)</a:t>
            </a:r>
          </a:p>
          <a:p>
            <a:pPr lvl="1"/>
            <a:r>
              <a:rPr lang="en-US" dirty="0" smtClean="0"/>
              <a:t>Clearing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treating specimen with xylene to make it more transparent</a:t>
            </a:r>
          </a:p>
        </p:txBody>
      </p:sp>
    </p:spTree>
    <p:extLst>
      <p:ext uri="{BB962C8B-B14F-4D97-AF65-F5344CB8AC3E}">
        <p14:creationId xmlns:p14="http://schemas.microsoft.com/office/powerpoint/2010/main" val="2874311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Histological 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Specimen preparation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0" y="1219201"/>
            <a:ext cx="4380738" cy="5572124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Most staining requires a series of steps</a:t>
            </a:r>
          </a:p>
          <a:p>
            <a:pPr lvl="1"/>
            <a:r>
              <a:rPr lang="en-US" dirty="0" smtClean="0"/>
              <a:t>Embedding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infiltrating the specimen with paraffin or plastic to give it support when sliced very thinly</a:t>
            </a:r>
          </a:p>
          <a:p>
            <a:pPr lvl="1"/>
            <a:r>
              <a:rPr lang="en-US" dirty="0" smtClean="0"/>
              <a:t>Sectioning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very thin slicing of specimen (5</a:t>
            </a:r>
            <a:r>
              <a:rPr lang="en-US" dirty="0" smtClean="0">
                <a:latin typeface="Calibri"/>
              </a:rPr>
              <a:t>–</a:t>
            </a:r>
            <a:r>
              <a:rPr lang="en-US" dirty="0" smtClean="0"/>
              <a:t>10 µm sections) on a special machine called a microtome</a:t>
            </a:r>
          </a:p>
        </p:txBody>
      </p:sp>
      <p:pic>
        <p:nvPicPr>
          <p:cNvPr id="7170" name="Picture 2" descr="C:\Users\UCA\Dropbox\LeBoffe_HistoPPTStuff\HistoCh1_Images\Fig 1-7 no labe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99" y="2057400"/>
            <a:ext cx="3486150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493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Histological 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Specimen preparation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371600"/>
            <a:ext cx="79248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Most staining requires a series of steps</a:t>
            </a:r>
          </a:p>
          <a:p>
            <a:pPr lvl="1"/>
            <a:r>
              <a:rPr lang="en-US" dirty="0" smtClean="0"/>
              <a:t>Mounting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placing each section on a glass slide</a:t>
            </a:r>
          </a:p>
          <a:p>
            <a:pPr lvl="1"/>
            <a:r>
              <a:rPr lang="en-US" dirty="0" smtClean="0"/>
              <a:t>Staining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colorizing a specimen to provide contrast</a:t>
            </a:r>
            <a:endParaRPr lang="en-US" dirty="0"/>
          </a:p>
        </p:txBody>
      </p:sp>
      <p:pic>
        <p:nvPicPr>
          <p:cNvPr id="6146" name="Picture 2" descr="C:\Users\UCA\Dropbox\LeBoffe_HistoPPTStuff\HistoCh1_Images\Fig 1-8 no labe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885" y="3733800"/>
            <a:ext cx="409516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647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Histological 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Specimen preparation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80010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Most staining requires a series of steps</a:t>
            </a:r>
          </a:p>
          <a:p>
            <a:r>
              <a:rPr lang="en-US" dirty="0" smtClean="0"/>
              <a:t>Electron microscopy steps are similar</a:t>
            </a:r>
          </a:p>
          <a:p>
            <a:pPr lvl="1"/>
            <a:r>
              <a:rPr lang="en-US" dirty="0" smtClean="0"/>
              <a:t>Fixation with </a:t>
            </a:r>
            <a:r>
              <a:rPr lang="en-US" dirty="0" err="1" smtClean="0"/>
              <a:t>glutaraldehyde</a:t>
            </a:r>
            <a:r>
              <a:rPr lang="en-US" dirty="0" smtClean="0"/>
              <a:t> and osmium tetroxide</a:t>
            </a:r>
          </a:p>
          <a:p>
            <a:pPr lvl="1"/>
            <a:r>
              <a:rPr lang="en-US" dirty="0" smtClean="0"/>
              <a:t>Often embedded in plastic</a:t>
            </a:r>
          </a:p>
          <a:p>
            <a:pPr lvl="2"/>
            <a:r>
              <a:rPr lang="en-US" dirty="0" smtClean="0"/>
              <a:t>Allows for thinner sections (app. 100 nm)</a:t>
            </a:r>
          </a:p>
          <a:p>
            <a:pPr lvl="1"/>
            <a:r>
              <a:rPr lang="en-US" dirty="0" err="1" smtClean="0"/>
              <a:t>Uranyl</a:t>
            </a:r>
            <a:r>
              <a:rPr lang="en-US" dirty="0" smtClean="0"/>
              <a:t> acetate, lead citrate, osmium tetroxide used as stains (electron-dense materials)</a:t>
            </a:r>
          </a:p>
          <a:p>
            <a:pPr lvl="2"/>
            <a:r>
              <a:rPr lang="en-US" dirty="0" smtClean="0"/>
              <a:t>Gold coating often used for scanning electron microscopy</a:t>
            </a:r>
          </a:p>
        </p:txBody>
      </p:sp>
    </p:spTree>
    <p:extLst>
      <p:ext uri="{BB962C8B-B14F-4D97-AF65-F5344CB8AC3E}">
        <p14:creationId xmlns:p14="http://schemas.microsoft.com/office/powerpoint/2010/main" val="3423647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Histological techniques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Specimen preparation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295400"/>
            <a:ext cx="7498080" cy="609600"/>
          </a:xfrm>
        </p:spPr>
        <p:txBody>
          <a:bodyPr/>
          <a:lstStyle/>
          <a:p>
            <a:r>
              <a:rPr lang="en-US" dirty="0" smtClean="0"/>
              <a:t>Commonly used histological stains</a:t>
            </a:r>
            <a:endParaRPr lang="en-US" dirty="0"/>
          </a:p>
        </p:txBody>
      </p:sp>
      <p:pic>
        <p:nvPicPr>
          <p:cNvPr id="1026" name="Picture 2" descr="C:\Users\UCA\Dropbox\LeBoffe_HistoPPTStuff\HistoCh1_Images\Table 1-1.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861239"/>
            <a:ext cx="6657975" cy="491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721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Strategies for studying histology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419600"/>
            <a:ext cx="8001000" cy="2362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Some general tips to help you succeed</a:t>
            </a:r>
          </a:p>
          <a:p>
            <a:pPr lvl="1"/>
            <a:r>
              <a:rPr lang="en-US" dirty="0" smtClean="0"/>
              <a:t>Read the slide’s label</a:t>
            </a:r>
          </a:p>
          <a:p>
            <a:pPr lvl="1"/>
            <a:r>
              <a:rPr lang="en-US" dirty="0" smtClean="0"/>
              <a:t>Realize that most slides have more than what is just written on </a:t>
            </a:r>
            <a:r>
              <a:rPr lang="en-US" smtClean="0"/>
              <a:t>the </a:t>
            </a:r>
            <a:r>
              <a:rPr lang="en-US" smtClean="0"/>
              <a:t>label</a:t>
            </a:r>
            <a:r>
              <a:rPr lang="en-US" smtClean="0">
                <a:latin typeface="Times New Roman"/>
                <a:cs typeface="Times New Roman"/>
              </a:rPr>
              <a:t>—</a:t>
            </a:r>
            <a:r>
              <a:rPr lang="en-US" smtClean="0"/>
              <a:t>the </a:t>
            </a:r>
            <a:r>
              <a:rPr lang="en-US" dirty="0" smtClean="0"/>
              <a:t>trick is to find the “correct” part of the specimen</a:t>
            </a:r>
          </a:p>
        </p:txBody>
      </p:sp>
      <p:pic>
        <p:nvPicPr>
          <p:cNvPr id="2050" name="Picture 2" descr="C:\Users\UCA\Dropbox\LeBoffe_HistoPPTStuff\HistoCh1_Images\Table 1-2.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8" y="1143000"/>
            <a:ext cx="7981689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006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Strategies for studying histology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8001000" cy="5715000"/>
          </a:xfrm>
        </p:spPr>
        <p:txBody>
          <a:bodyPr>
            <a:normAutofit/>
          </a:bodyPr>
          <a:lstStyle/>
          <a:p>
            <a:r>
              <a:rPr lang="en-US" dirty="0" smtClean="0"/>
              <a:t>Some general tips to help you succeed</a:t>
            </a:r>
          </a:p>
          <a:p>
            <a:pPr lvl="1"/>
            <a:r>
              <a:rPr lang="en-US" dirty="0" smtClean="0"/>
              <a:t>Get used to looking at a slide without a microscope first to get a rough feel for the section</a:t>
            </a:r>
          </a:p>
          <a:p>
            <a:pPr lvl="1"/>
            <a:r>
              <a:rPr lang="en-US" dirty="0" smtClean="0"/>
              <a:t>Always begin microscopic examination at low power, then move to higher power</a:t>
            </a:r>
          </a:p>
          <a:p>
            <a:pPr lvl="2"/>
            <a:r>
              <a:rPr lang="en-US" dirty="0" smtClean="0"/>
              <a:t>Don’t </a:t>
            </a:r>
            <a:r>
              <a:rPr lang="en-US" dirty="0" err="1" smtClean="0"/>
              <a:t>overilluminate</a:t>
            </a:r>
            <a:r>
              <a:rPr lang="en-US" dirty="0" smtClean="0"/>
              <a:t> specimens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you’ll lose detail!</a:t>
            </a:r>
          </a:p>
          <a:p>
            <a:pPr lvl="1"/>
            <a:r>
              <a:rPr lang="en-US" dirty="0" smtClean="0"/>
              <a:t>Look at several slides of similar tissue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don’t stop after just one look!</a:t>
            </a:r>
          </a:p>
          <a:p>
            <a:pPr lvl="1"/>
            <a:r>
              <a:rPr lang="en-US" dirty="0" smtClean="0"/>
              <a:t>Don’t overestimate slide quality. </a:t>
            </a:r>
          </a:p>
          <a:p>
            <a:pPr lvl="2"/>
            <a:r>
              <a:rPr lang="en-US" dirty="0" smtClean="0"/>
              <a:t>Textbook examples are often very, very good.  Actual slide quality may vary considerably.</a:t>
            </a:r>
          </a:p>
        </p:txBody>
      </p:sp>
    </p:spTree>
    <p:extLst>
      <p:ext uri="{BB962C8B-B14F-4D97-AF65-F5344CB8AC3E}">
        <p14:creationId xmlns:p14="http://schemas.microsoft.com/office/powerpoint/2010/main" val="2152553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Strategies for studying histology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3505200" cy="54102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Some general tips to help you succeed</a:t>
            </a:r>
          </a:p>
          <a:p>
            <a:pPr lvl="1"/>
            <a:r>
              <a:rPr lang="en-US" dirty="0" smtClean="0"/>
              <a:t>Remember</a:t>
            </a:r>
            <a:r>
              <a:rPr lang="en-US" dirty="0" smtClean="0">
                <a:latin typeface="Calibri"/>
              </a:rPr>
              <a:t>—</a:t>
            </a:r>
            <a:r>
              <a:rPr lang="en-US" dirty="0" smtClean="0"/>
              <a:t>you’re visualizing a 2D image, but think of it in 3D form. Try to think about how the section was </a:t>
            </a:r>
          </a:p>
          <a:p>
            <a:pPr marL="402336" lvl="1" indent="0">
              <a:buNone/>
            </a:pPr>
            <a:r>
              <a:rPr lang="en-US" dirty="0"/>
              <a:t> </a:t>
            </a:r>
            <a:r>
              <a:rPr lang="en-US" dirty="0" smtClean="0"/>
              <a:t> cut and what</a:t>
            </a:r>
          </a:p>
          <a:p>
            <a:pPr marL="402336" lvl="1" indent="0">
              <a:buNone/>
            </a:pPr>
            <a:r>
              <a:rPr lang="en-US" dirty="0"/>
              <a:t> </a:t>
            </a:r>
            <a:r>
              <a:rPr lang="en-US" dirty="0" smtClean="0"/>
              <a:t> it means.</a:t>
            </a:r>
          </a:p>
        </p:txBody>
      </p:sp>
      <p:pic>
        <p:nvPicPr>
          <p:cNvPr id="8194" name="Picture 2" descr="C:\Users\UCA\Dropbox\LeBoffe_HistoPPTStuff\HistoCh1_Images\Fig 1-9 label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447800"/>
            <a:ext cx="4128894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553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Take-home message: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8001000" cy="5181600"/>
          </a:xfrm>
        </p:spPr>
        <p:txBody>
          <a:bodyPr/>
          <a:lstStyle/>
          <a:p>
            <a:r>
              <a:rPr lang="en-US" dirty="0" smtClean="0"/>
              <a:t>Histology is an interesting field that bridges basic anatomy and the molecular functions of tissues/organs</a:t>
            </a:r>
          </a:p>
          <a:p>
            <a:r>
              <a:rPr lang="en-US" dirty="0" smtClean="0"/>
              <a:t>Tools of histology include several different microscopes and the methods used to create stained tissue section slides</a:t>
            </a:r>
          </a:p>
          <a:p>
            <a:r>
              <a:rPr lang="en-US" dirty="0" smtClean="0"/>
              <a:t>Examining tissue section slides gives us a 2D image of how organs are put together, but it’s important to think in 3D.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540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Recap Quiz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Question 1.1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the basic meaning of resolution?</a:t>
            </a:r>
          </a:p>
          <a:p>
            <a:pPr lvl="1"/>
            <a:r>
              <a:rPr lang="en-US" dirty="0" smtClean="0"/>
              <a:t>How many times larger the created image is versus the real image</a:t>
            </a:r>
          </a:p>
          <a:p>
            <a:pPr lvl="1"/>
            <a:r>
              <a:rPr lang="en-US" dirty="0" smtClean="0"/>
              <a:t>How far apart two points can be yet still be observed as separate</a:t>
            </a:r>
          </a:p>
          <a:p>
            <a:pPr lvl="1"/>
            <a:r>
              <a:rPr lang="en-US" dirty="0" smtClean="0"/>
              <a:t>How close together two points can be yet still be observed as separate</a:t>
            </a:r>
          </a:p>
        </p:txBody>
      </p:sp>
    </p:spTree>
    <p:extLst>
      <p:ext uri="{BB962C8B-B14F-4D97-AF65-F5344CB8AC3E}">
        <p14:creationId xmlns:p14="http://schemas.microsoft.com/office/powerpoint/2010/main" val="335149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Recap Quiz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Question 1.1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the basic meaning of resolution?</a:t>
            </a:r>
          </a:p>
          <a:p>
            <a:pPr lvl="1"/>
            <a:r>
              <a:rPr lang="en-US" dirty="0" smtClean="0"/>
              <a:t>How many times larger the created image is versus the real image</a:t>
            </a:r>
          </a:p>
          <a:p>
            <a:pPr lvl="1"/>
            <a:r>
              <a:rPr lang="en-US" dirty="0" smtClean="0"/>
              <a:t>How far apart two points can be yet still be observed as separate</a:t>
            </a:r>
          </a:p>
          <a:p>
            <a:pPr lvl="1"/>
            <a:r>
              <a:rPr lang="en-US" b="1" i="1" dirty="0" smtClean="0"/>
              <a:t>How close together two points can be yet still be observed as separate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295400" y="4038600"/>
            <a:ext cx="594765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55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Recap Quiz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Question 1.2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Which part of the light microscope focuses the light onto/through the specimen?</a:t>
            </a:r>
          </a:p>
          <a:p>
            <a:pPr lvl="1"/>
            <a:r>
              <a:rPr lang="en-US" dirty="0" smtClean="0"/>
              <a:t>Condenser</a:t>
            </a:r>
          </a:p>
          <a:p>
            <a:pPr lvl="1"/>
            <a:r>
              <a:rPr lang="en-US" dirty="0" smtClean="0"/>
              <a:t>Objective lens</a:t>
            </a:r>
          </a:p>
          <a:p>
            <a:pPr lvl="1"/>
            <a:r>
              <a:rPr lang="en-US" dirty="0" smtClean="0"/>
              <a:t>Ocular lens</a:t>
            </a:r>
          </a:p>
          <a:p>
            <a:pPr lvl="1"/>
            <a:r>
              <a:rPr lang="en-US" dirty="0" smtClean="0"/>
              <a:t>Stage</a:t>
            </a:r>
          </a:p>
        </p:txBody>
      </p:sp>
    </p:spTree>
    <p:extLst>
      <p:ext uri="{BB962C8B-B14F-4D97-AF65-F5344CB8AC3E}">
        <p14:creationId xmlns:p14="http://schemas.microsoft.com/office/powerpoint/2010/main" val="2248020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Recap Quiz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Question 1.2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Which part of the light microscope focuses the light onto/through the specimen?</a:t>
            </a:r>
          </a:p>
          <a:p>
            <a:pPr lvl="1"/>
            <a:r>
              <a:rPr lang="en-US" b="1" i="1" dirty="0" smtClean="0"/>
              <a:t>Condenser</a:t>
            </a:r>
          </a:p>
          <a:p>
            <a:pPr lvl="1"/>
            <a:r>
              <a:rPr lang="en-US" dirty="0" smtClean="0"/>
              <a:t>Objective lens</a:t>
            </a:r>
          </a:p>
          <a:p>
            <a:pPr lvl="1"/>
            <a:r>
              <a:rPr lang="en-US" dirty="0" smtClean="0"/>
              <a:t>Ocular lens</a:t>
            </a:r>
          </a:p>
          <a:p>
            <a:pPr lvl="1"/>
            <a:r>
              <a:rPr lang="en-US" dirty="0" smtClean="0"/>
              <a:t>Stage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295400" y="2971800"/>
            <a:ext cx="533400" cy="533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1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Recap Quiz</a:t>
            </a:r>
            <a:r>
              <a:rPr lang="en-US" sz="4000" dirty="0" smtClean="0">
                <a:latin typeface="Calibri"/>
              </a:rPr>
              <a:t>—</a:t>
            </a:r>
            <a:r>
              <a:rPr lang="en-US" sz="4000" dirty="0" smtClean="0"/>
              <a:t>Question 1.3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True or false: A TEM has a higher resolution AND magnification factor than a light microscope.</a:t>
            </a:r>
          </a:p>
        </p:txBody>
      </p:sp>
    </p:spTree>
    <p:extLst>
      <p:ext uri="{BB962C8B-B14F-4D97-AF65-F5344CB8AC3E}">
        <p14:creationId xmlns:p14="http://schemas.microsoft.com/office/powerpoint/2010/main" val="2248020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Recap Quiz—Question 1.3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True or false: A TEM has a higher resolution AND magnification factor than a light microscope.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981200" y="327660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0" y="3549134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/>
              <a:t>True</a:t>
            </a:r>
            <a:endParaRPr 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1480055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Recap Quiz</a:t>
            </a:r>
            <a:r>
              <a:rPr lang="en-US" sz="4000" dirty="0">
                <a:latin typeface="Times New Roman"/>
                <a:cs typeface="Times New Roman"/>
              </a:rPr>
              <a:t>—</a:t>
            </a:r>
            <a:r>
              <a:rPr lang="en-US" sz="4000" dirty="0" smtClean="0"/>
              <a:t>Question 1.4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During the process of preparing tissue for histological examination, which one of the following steps helps to slow the deterioration of the specimen?</a:t>
            </a:r>
          </a:p>
          <a:p>
            <a:pPr lvl="1"/>
            <a:r>
              <a:rPr lang="en-US" dirty="0" smtClean="0"/>
              <a:t>Fixation</a:t>
            </a:r>
          </a:p>
          <a:p>
            <a:pPr lvl="1"/>
            <a:r>
              <a:rPr lang="en-US" dirty="0" smtClean="0"/>
              <a:t>Clearing</a:t>
            </a:r>
          </a:p>
          <a:p>
            <a:pPr lvl="1"/>
            <a:r>
              <a:rPr lang="en-US" dirty="0" smtClean="0"/>
              <a:t>Embedding</a:t>
            </a:r>
          </a:p>
          <a:p>
            <a:pPr lvl="1"/>
            <a:r>
              <a:rPr lang="en-US" dirty="0" smtClean="0"/>
              <a:t>Sectioning</a:t>
            </a:r>
          </a:p>
        </p:txBody>
      </p:sp>
    </p:spTree>
    <p:extLst>
      <p:ext uri="{BB962C8B-B14F-4D97-AF65-F5344CB8AC3E}">
        <p14:creationId xmlns:p14="http://schemas.microsoft.com/office/powerpoint/2010/main" val="2248020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Recap Quiz</a:t>
            </a:r>
            <a:r>
              <a:rPr lang="en-US" sz="4000" dirty="0" smtClean="0">
                <a:latin typeface="Times New Roman"/>
                <a:cs typeface="Times New Roman"/>
              </a:rPr>
              <a:t>—</a:t>
            </a:r>
            <a:r>
              <a:rPr lang="en-US" sz="4000" dirty="0" smtClean="0"/>
              <a:t>Question 1.4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During the process of preparing tissue for histological examination, which one of the following steps helps to slow the deterioration of the specimen?</a:t>
            </a:r>
          </a:p>
          <a:p>
            <a:pPr lvl="1"/>
            <a:r>
              <a:rPr lang="en-US" b="1" i="1" dirty="0" smtClean="0"/>
              <a:t>Fixation</a:t>
            </a:r>
          </a:p>
          <a:p>
            <a:pPr lvl="1"/>
            <a:r>
              <a:rPr lang="en-US" dirty="0" smtClean="0"/>
              <a:t>Clearing</a:t>
            </a:r>
          </a:p>
          <a:p>
            <a:pPr lvl="1"/>
            <a:r>
              <a:rPr lang="en-US" dirty="0" smtClean="0"/>
              <a:t>Embedding</a:t>
            </a:r>
          </a:p>
          <a:p>
            <a:pPr lvl="1"/>
            <a:r>
              <a:rPr lang="en-US" dirty="0" smtClean="0"/>
              <a:t>Sectioning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295400" y="3505200"/>
            <a:ext cx="533400" cy="53474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46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Recap Quiz</a:t>
            </a:r>
            <a:r>
              <a:rPr lang="en-US" sz="4000" dirty="0" smtClean="0">
                <a:latin typeface="Times New Roman"/>
                <a:cs typeface="Times New Roman"/>
              </a:rPr>
              <a:t>—</a:t>
            </a:r>
            <a:r>
              <a:rPr lang="en-US" sz="4000" dirty="0" smtClean="0"/>
              <a:t>Question 1.5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Which one of the following is the tool used to create very thin sections of tissues?</a:t>
            </a:r>
          </a:p>
          <a:p>
            <a:pPr lvl="1"/>
            <a:r>
              <a:rPr lang="en-US" dirty="0" smtClean="0"/>
              <a:t>TEM</a:t>
            </a:r>
          </a:p>
          <a:p>
            <a:pPr lvl="1"/>
            <a:r>
              <a:rPr lang="en-US" dirty="0" smtClean="0"/>
              <a:t>SEM</a:t>
            </a:r>
          </a:p>
          <a:p>
            <a:pPr lvl="1"/>
            <a:r>
              <a:rPr lang="en-US" dirty="0" smtClean="0"/>
              <a:t>Condenser</a:t>
            </a:r>
          </a:p>
          <a:p>
            <a:pPr lvl="1"/>
            <a:r>
              <a:rPr lang="en-US" dirty="0" smtClean="0"/>
              <a:t>Dehydrator</a:t>
            </a:r>
          </a:p>
          <a:p>
            <a:pPr lvl="1"/>
            <a:r>
              <a:rPr lang="en-US" dirty="0" smtClean="0"/>
              <a:t>Microtome</a:t>
            </a:r>
          </a:p>
        </p:txBody>
      </p:sp>
    </p:spTree>
    <p:extLst>
      <p:ext uri="{BB962C8B-B14F-4D97-AF65-F5344CB8AC3E}">
        <p14:creationId xmlns:p14="http://schemas.microsoft.com/office/powerpoint/2010/main" val="2248020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76200"/>
            <a:ext cx="8001000" cy="1143000"/>
          </a:xfrm>
        </p:spPr>
        <p:txBody>
          <a:bodyPr>
            <a:normAutofit/>
          </a:bodyPr>
          <a:lstStyle/>
          <a:p>
            <a:r>
              <a:rPr lang="en-US" sz="4000" smtClean="0"/>
              <a:t>Recap Quiz</a:t>
            </a:r>
            <a:r>
              <a:rPr lang="en-US" sz="4000" smtClean="0">
                <a:latin typeface="Times New Roman"/>
                <a:cs typeface="Times New Roman"/>
              </a:rPr>
              <a:t>—</a:t>
            </a:r>
            <a:r>
              <a:rPr lang="en-US" sz="4000" smtClean="0"/>
              <a:t>Question 1.5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Which one of the following is the tool used to create very thin sections of tissues?</a:t>
            </a:r>
          </a:p>
          <a:p>
            <a:pPr lvl="1"/>
            <a:r>
              <a:rPr lang="en-US" dirty="0" smtClean="0"/>
              <a:t>TEM</a:t>
            </a:r>
          </a:p>
          <a:p>
            <a:pPr lvl="1"/>
            <a:r>
              <a:rPr lang="en-US" dirty="0" smtClean="0"/>
              <a:t>SEM</a:t>
            </a:r>
          </a:p>
          <a:p>
            <a:pPr lvl="1"/>
            <a:r>
              <a:rPr lang="en-US" dirty="0" smtClean="0"/>
              <a:t>Condenser</a:t>
            </a:r>
          </a:p>
          <a:p>
            <a:pPr lvl="1"/>
            <a:r>
              <a:rPr lang="en-US" dirty="0" smtClean="0"/>
              <a:t>Dehydrator</a:t>
            </a:r>
          </a:p>
          <a:p>
            <a:pPr lvl="1"/>
            <a:r>
              <a:rPr lang="en-US" b="1" i="1" dirty="0" smtClean="0"/>
              <a:t>Microtome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371600" y="5043361"/>
            <a:ext cx="457200" cy="457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56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189</TotalTime>
  <Words>1084</Words>
  <Application>Microsoft Office PowerPoint</Application>
  <PresentationFormat>On-screen Show (4:3)</PresentationFormat>
  <Paragraphs>163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Solstice</vt:lpstr>
      <vt:lpstr>Chapter 1—Introduction</vt:lpstr>
      <vt:lpstr>Chapter Outline</vt:lpstr>
      <vt:lpstr>What is histology?</vt:lpstr>
      <vt:lpstr>Why study histology?</vt:lpstr>
      <vt:lpstr>Histological techniques—Microscopy</vt:lpstr>
      <vt:lpstr>Histological techniques—Microscopy</vt:lpstr>
      <vt:lpstr>Histological techniques—Microscopy</vt:lpstr>
      <vt:lpstr>Histological techniques—Microscopy</vt:lpstr>
      <vt:lpstr>Histological techniques—Microscopy</vt:lpstr>
      <vt:lpstr>Histological techniques—Microscopy</vt:lpstr>
      <vt:lpstr>Histological techniques—Microscopy</vt:lpstr>
      <vt:lpstr>Histological techniques—Specimen preparation</vt:lpstr>
      <vt:lpstr>Histological techniques—Specimen preparation</vt:lpstr>
      <vt:lpstr>Histological techniques—Specimen preparation</vt:lpstr>
      <vt:lpstr>Histological techniques—Specimen preparation</vt:lpstr>
      <vt:lpstr>Histological techniques—Specimen preparation</vt:lpstr>
      <vt:lpstr>Strategies for studying histology</vt:lpstr>
      <vt:lpstr>Strategies for studying histology</vt:lpstr>
      <vt:lpstr>Strategies for studying histology</vt:lpstr>
      <vt:lpstr>Take-home message:</vt:lpstr>
      <vt:lpstr>Recap Quiz—Question 1.1</vt:lpstr>
      <vt:lpstr>Recap Quiz—Question 1.1</vt:lpstr>
      <vt:lpstr>Recap Quiz—Question 1.2</vt:lpstr>
      <vt:lpstr>Recap Quiz—Question 1.2</vt:lpstr>
      <vt:lpstr>Recap Quiz—Question 1.3</vt:lpstr>
      <vt:lpstr>Recap Quiz—Question 1.3</vt:lpstr>
      <vt:lpstr>Recap Quiz—Question 1.4</vt:lpstr>
      <vt:lpstr>Recap Quiz—Question 1.4</vt:lpstr>
      <vt:lpstr>Recap Quiz—Question 1.5</vt:lpstr>
      <vt:lpstr>Recap Quiz—Question 1.5</vt:lpstr>
    </vt:vector>
  </TitlesOfParts>
  <Company>University of Central Arkansas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UCA</dc:creator>
  <cp:lastModifiedBy>Melanie Stafford</cp:lastModifiedBy>
  <cp:revision>34</cp:revision>
  <cp:lastPrinted>2014-02-24T17:43:11Z</cp:lastPrinted>
  <dcterms:created xsi:type="dcterms:W3CDTF">2013-11-21T15:03:19Z</dcterms:created>
  <dcterms:modified xsi:type="dcterms:W3CDTF">2014-03-04T17:40:21Z</dcterms:modified>
</cp:coreProperties>
</file>